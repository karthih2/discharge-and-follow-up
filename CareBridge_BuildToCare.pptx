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728431c-3d8e-1d64-0710-61be86263d83}">
          <p14:sldIdLst>
            <p14:sldId id="256"/>
            <p14:sldId id="257"/>
          </p14:sldIdLst>
        </p14:section>
        <p14:section name="Problem and Solution" id="{877e59e8-8bc5-fd96-9d45-3589e93a50ba}">
          <p14:sldIdLst>
            <p14:sldId id="258"/>
            <p14:sldId id="259"/>
          </p14:sldIdLst>
        </p14:section>
        <p14:section name="Architecture" id="{da4f6b06-453b-7784-b34d-38d141be6886}">
          <p14:sldIdLst>
            <p14:sldId id="260"/>
            <p14:sldId id="261"/>
          </p14:sldIdLst>
        </p14:section>
        <p14:section name="Safety and Experience" id="{d20ed909-bf42-4412-1a2f-13465d8a48a4}">
          <p14:sldIdLst>
            <p14:sldId id="262"/>
            <p14:sldId id="263"/>
          </p14:sldIdLst>
        </p14:section>
        <p14:section name="Value and Impact" id="{e33ff77e-9a5c-85e5-d1ec-542eb8e82289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CareBridge: an agentic coordinator that converts a synthetic discharge summary into a trackable, multilingual follow-up plan, with a doctor in the loop for anything unclear.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placeholders with your team name, member names and 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lines from our messy synthetic sample: a possible dose change, a missing date, a direct conflict, and 'as needed'. Today these reach the patient as-is.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 on the left, a chain of nine small agents plus a doctor in the middle, a living plan on the right. Six capabilities map directly to the problem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to bottom: three separate apps with separate logins; one FastAPI backend that checks the role on every call; the intelligence layer; and storage plus external services. Every action lands in the audit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it like a snake: top row left to right, then down and right to left. Green tags use the Groq model; teal tags are deterministic code. Triage is the safety gate: rules decide, the model can only add flags. Anything flagged takes the red path to a doctor before the patient sees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layers of safety, each enforced in code, plus a full audit log of every agent and human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Access is checked in the API for every call. The escalation engine runs on every page load against a simulated clock, which is how we show it live with 'Move clock +3 days'.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 lands on three groups at once. The deployment model is software on top of documents hospitals already produce.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Prototype numbers come straight from the codebase. Expected real-world impact: fewer missed appointments and tests, earlier escalation of warning signs, and less doctor time per discharge.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Title">
    <p:bg>
      <p:bgPr>
        <a:solidFill>
          <a:srgbClr val="0B2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Content">
    <p:bg>
      <p:bgPr>
        <a:solidFill>
          <a:srgbClr val="EA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CareBridge  |  Build to Care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65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rgbClr val="0B2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CareBridge  |  Build to Care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D6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65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4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chevron" descr="/tmp/claude-0/-home-claude/f3b70a50-054e-5e1a-9743-63a149e0e6f5/scratchpad/deck/assets/chevron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5120640" y="182880"/>
            <a:ext cx="7223760" cy="6309360"/>
          </a:xfrm>
          <a:prstGeom prst="rect">
            <a:avLst/>
          </a:prstGeom>
        </p:spPr>
      </p:pic>
      <p:pic>
        <p:nvPicPr>
          <p:cNvPr id="3" name="a01_blob_1" descr="/tmp/claude-0/-home-claude/f3b70a50-054e-5e1a-9743-63a149e0e6f5/scratchpad/deck/assets/blob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685800"/>
            <a:ext cx="5394960" cy="5394960"/>
          </a:xfrm>
          <a:prstGeom prst="rect">
            <a:avLst/>
          </a:prstGeom>
        </p:spPr>
      </p:pic>
      <p:pic>
        <p:nvPicPr>
          <p:cNvPr id="4" name="a01_dot_2" descr="/tmp/claude-0/-home-claude/f3b70a50-054e-5e1a-9743-63a149e0e6f5/scratchpad/deck/assets/blob_li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502920"/>
            <a:ext cx="1005840" cy="1005840"/>
          </a:xfrm>
          <a:prstGeom prst="rect">
            <a:avLst/>
          </a:prstGeom>
        </p:spPr>
      </p:pic>
      <p:pic>
        <p:nvPicPr>
          <p:cNvPr id="5" name="a01_dot_3" descr="/tmp/claude-0/-home-claude/f3b70a50-054e-5e1a-9743-63a149e0e6f5/scratchpad/deck/assets/blob_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5212080"/>
            <a:ext cx="731520" cy="731520"/>
          </a:xfrm>
          <a:prstGeom prst="rect">
            <a:avLst/>
          </a:prstGeom>
        </p:spPr>
      </p:pic>
      <p:pic>
        <p:nvPicPr>
          <p:cNvPr id="6" name="a02_hero_4" descr="/tmp/claude-0/-home-claude/f3b70a50-054e-5e1a-9743-63a149e0e6f5/scratchpad/deck/assets/her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960120"/>
            <a:ext cx="5257800" cy="5074920"/>
          </a:xfrm>
          <a:prstGeom prst="rect">
            <a:avLst/>
          </a:prstGeom>
        </p:spPr>
      </p:pic>
      <p:sp>
        <p:nvSpPr>
          <p:cNvPr id="7" name="pill_bg"/>
          <p:cNvSpPr/>
          <p:nvPr/>
        </p:nvSpPr>
        <p:spPr>
          <a:xfrm>
            <a:off x="640080" y="685800"/>
            <a:ext cx="3566160" cy="42062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pill_txt"/>
          <p:cNvSpPr txBox="1"/>
          <p:nvPr/>
        </p:nvSpPr>
        <p:spPr>
          <a:xfrm>
            <a:off x="640080" y="685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THE FINALIST  </a:t>
            </a:r>
            <a:pPr algn="ctr" indent="0" marL="0">
              <a:buNone/>
            </a:pPr>
            <a:r>
              <a:rPr lang="en-US" sz="1200" spc="200" kern="0" dirty="0">
                <a:solidFill>
                  <a:schemeClr val="bg1"/>
                </a:solidFill>
              </a:rPr>
              <a:t>|  HACKFORGE.AI</a:t>
            </a:r>
            <a:endParaRPr lang="en-US" sz="1200" dirty="0"/>
          </a:p>
        </p:txBody>
      </p:sp>
      <p:sp>
        <p:nvSpPr>
          <p:cNvPr id="9" name="Text 2"/>
          <p:cNvSpPr txBox="1"/>
          <p:nvPr/>
        </p:nvSpPr>
        <p:spPr>
          <a:xfrm>
            <a:off x="640080" y="1417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TO CARE</a:t>
            </a:r>
            <a:endParaRPr lang="en-US" sz="1800" dirty="0"/>
          </a:p>
        </p:txBody>
      </p:sp>
      <p:sp>
        <p:nvSpPr>
          <p:cNvPr id="10" name="Text 3"/>
          <p:cNvSpPr txBox="1"/>
          <p:nvPr/>
        </p:nvSpPr>
        <p:spPr>
          <a:xfrm>
            <a:off x="640080" y="1874520"/>
            <a:ext cx="6035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</a:t>
            </a:r>
            <a:pPr indent="0" marL="0">
              <a:buNone/>
            </a:pPr>
            <a:r>
              <a:rPr lang="en-US" sz="8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</a:t>
            </a:r>
            <a:endParaRPr lang="en-US" sz="8000" dirty="0"/>
          </a:p>
        </p:txBody>
      </p:sp>
      <p:sp>
        <p:nvSpPr>
          <p:cNvPr id="11" name="Text 4"/>
          <p:cNvSpPr txBox="1"/>
          <p:nvPr/>
        </p:nvSpPr>
        <p:spPr>
          <a:xfrm>
            <a:off x="640080" y="315468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Hospital Discharge &amp; Follow-up Coordinator</a:t>
            </a:r>
            <a:endParaRPr lang="en-US" sz="2200" dirty="0"/>
          </a:p>
        </p:txBody>
      </p:sp>
      <p:sp>
        <p:nvSpPr>
          <p:cNvPr id="12" name="Text 5"/>
          <p:cNvSpPr txBox="1"/>
          <p:nvPr/>
        </p:nvSpPr>
        <p:spPr>
          <a:xfrm>
            <a:off x="640080" y="41148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We turn a discharge summary into a clear, verified plan that patients and families can follow, in their own language.</a:t>
            </a:r>
            <a:endParaRPr lang="en-US" sz="1600" dirty="0"/>
          </a:p>
        </p:txBody>
      </p:sp>
      <p:sp>
        <p:nvSpPr>
          <p:cNvPr id="13" name="Shape 6"/>
          <p:cNvSpPr/>
          <p:nvPr/>
        </p:nvSpPr>
        <p:spPr>
          <a:xfrm>
            <a:off x="640080" y="5349240"/>
            <a:ext cx="2596896" cy="4572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5458968"/>
            <a:ext cx="237744" cy="237744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1097280" y="534924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Team: [Your team name]</a:t>
            </a:r>
            <a:endParaRPr lang="en-US" sz="1300" dirty="0"/>
          </a:p>
        </p:txBody>
      </p:sp>
      <p:sp>
        <p:nvSpPr>
          <p:cNvPr id="16" name="Shape 8"/>
          <p:cNvSpPr/>
          <p:nvPr/>
        </p:nvSpPr>
        <p:spPr>
          <a:xfrm>
            <a:off x="3419856" y="5349240"/>
            <a:ext cx="2075688" cy="4572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5304" y="5458968"/>
            <a:ext cx="237744" cy="237744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3877056" y="5349240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SRM IST, Chennai</a:t>
            </a:r>
            <a:endParaRPr lang="en-US" sz="1300" dirty="0"/>
          </a:p>
        </p:txBody>
      </p:sp>
      <p:sp>
        <p:nvSpPr>
          <p:cNvPr id="19" name="Shape 10"/>
          <p:cNvSpPr/>
          <p:nvPr/>
        </p:nvSpPr>
        <p:spPr>
          <a:xfrm>
            <a:off x="5678424" y="5349240"/>
            <a:ext cx="1554480" cy="4572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33872" y="5458968"/>
            <a:ext cx="237744" cy="237744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6135624" y="53492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8 Oct 2026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" dur="450"/>
                                              <p:tgtEl>
                                                <p:spTgt spid="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" dur="450"/>
                                              <p:tgtEl>
                                                <p:spTgt spid="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" dur="450"/>
                                              <p:tgtEl>
                                                <p:spTgt spid="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8" fill="hold">
                                  <p:stCondLst>
                                    <p:cond delay="380"/>
                                  </p:stCondLst>
                                  <p:childTnLst>
                                    <p:par>
                                      <p:cTn id="15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7" dur="450"/>
                                              <p:tgtEl>
                                                <p:spTgt spid="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THE TEAM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people behind CareBridge</a:t>
            </a:r>
            <a:endParaRPr lang="en-US" sz="3200" dirty="0"/>
          </a:p>
        </p:txBody>
      </p:sp>
      <p:sp>
        <p:nvSpPr>
          <p:cNvPr id="4" name="a01_teamcard_5"/>
          <p:cNvSpPr/>
          <p:nvPr/>
        </p:nvSpPr>
        <p:spPr>
          <a:xfrm>
            <a:off x="548640" y="1554480"/>
            <a:ext cx="3840480" cy="4526280"/>
          </a:xfrm>
          <a:prstGeom prst="roundRect">
            <a:avLst>
              <a:gd name="adj" fmla="val 285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5" name="a01_ic_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74520"/>
            <a:ext cx="685800" cy="685800"/>
          </a:xfrm>
          <a:prstGeom prst="rect">
            <a:avLst/>
          </a:prstGeom>
        </p:spPr>
      </p:pic>
      <p:sp>
        <p:nvSpPr>
          <p:cNvPr id="6" name="a01_t_7"/>
          <p:cNvSpPr txBox="1"/>
          <p:nvPr/>
        </p:nvSpPr>
        <p:spPr>
          <a:xfrm>
            <a:off x="868680" y="2743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TEAM NAME</a:t>
            </a:r>
            <a:endParaRPr lang="en-US" sz="1100" dirty="0"/>
          </a:p>
        </p:txBody>
      </p:sp>
      <p:sp>
        <p:nvSpPr>
          <p:cNvPr id="7" name="a01_t_8"/>
          <p:cNvSpPr txBox="1"/>
          <p:nvPr/>
        </p:nvSpPr>
        <p:spPr>
          <a:xfrm>
            <a:off x="868680" y="3017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team name]</a:t>
            </a:r>
            <a:endParaRPr lang="en-US" sz="2600" dirty="0"/>
          </a:p>
        </p:txBody>
      </p:sp>
      <p:sp>
        <p:nvSpPr>
          <p:cNvPr id="8" name="a01_t_9"/>
          <p:cNvSpPr txBox="1"/>
          <p:nvPr/>
        </p:nvSpPr>
        <p:spPr>
          <a:xfrm>
            <a:off x="868680" y="370332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Track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Agentic Hospital Discharge &amp; Follow-up Coordinator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Institution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SRM Institute of Science &amp; Technology</a:t>
            </a:r>
            <a:endParaRPr lang="en-US" sz="1400" dirty="0"/>
          </a:p>
        </p:txBody>
      </p:sp>
      <p:sp>
        <p:nvSpPr>
          <p:cNvPr id="9" name="a02_card_10"/>
          <p:cNvSpPr/>
          <p:nvPr/>
        </p:nvSpPr>
        <p:spPr>
          <a:xfrm>
            <a:off x="4709160" y="1554480"/>
            <a:ext cx="324612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rgbClr val="C9E6DF"/>
            </a:solidFill>
            <a:prstDash val="solid"/>
          </a:ln>
        </p:spPr>
      </p:sp>
      <p:sp>
        <p:nvSpPr>
          <p:cNvPr id="10" name="a02_av_11"/>
          <p:cNvSpPr/>
          <p:nvPr/>
        </p:nvSpPr>
        <p:spPr>
          <a:xfrm>
            <a:off x="4983480" y="182880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a02_av_1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2029968"/>
            <a:ext cx="457200" cy="457200"/>
          </a:xfrm>
          <a:prstGeom prst="rect">
            <a:avLst/>
          </a:prstGeom>
        </p:spPr>
      </p:pic>
      <p:sp>
        <p:nvSpPr>
          <p:cNvPr id="12" name="a02_b_13"/>
          <p:cNvSpPr/>
          <p:nvPr/>
        </p:nvSpPr>
        <p:spPr>
          <a:xfrm>
            <a:off x="5623560" y="2450592"/>
            <a:ext cx="347472" cy="347472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pic>
        <p:nvPicPr>
          <p:cNvPr id="13" name="a02_b_1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2523744"/>
            <a:ext cx="201168" cy="201168"/>
          </a:xfrm>
          <a:prstGeom prst="rect">
            <a:avLst/>
          </a:prstGeom>
        </p:spPr>
      </p:pic>
      <p:sp>
        <p:nvSpPr>
          <p:cNvPr id="14" name="a02_t_15"/>
          <p:cNvSpPr txBox="1"/>
          <p:nvPr/>
        </p:nvSpPr>
        <p:spPr>
          <a:xfrm>
            <a:off x="4983480" y="28529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Name</a:t>
            </a:r>
            <a:endParaRPr lang="en-US" sz="1800" dirty="0"/>
          </a:p>
        </p:txBody>
      </p:sp>
      <p:sp>
        <p:nvSpPr>
          <p:cNvPr id="15" name="a02_t_16"/>
          <p:cNvSpPr txBox="1"/>
          <p:nvPr/>
        </p:nvSpPr>
        <p:spPr>
          <a:xfrm>
            <a:off x="4983480" y="3200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Team lead · Agents &amp; backend</a:t>
            </a:r>
            <a:endParaRPr lang="en-US" sz="1300" dirty="0"/>
          </a:p>
        </p:txBody>
      </p:sp>
      <p:sp>
        <p:nvSpPr>
          <p:cNvPr id="16" name="a03_card_17"/>
          <p:cNvSpPr/>
          <p:nvPr/>
        </p:nvSpPr>
        <p:spPr>
          <a:xfrm>
            <a:off x="8229600" y="1554480"/>
            <a:ext cx="324612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rgbClr val="C9E6DF"/>
            </a:solidFill>
            <a:prstDash val="solid"/>
          </a:ln>
        </p:spPr>
      </p:sp>
      <p:sp>
        <p:nvSpPr>
          <p:cNvPr id="17" name="a03_av_18"/>
          <p:cNvSpPr/>
          <p:nvPr/>
        </p:nvSpPr>
        <p:spPr>
          <a:xfrm>
            <a:off x="8503920" y="182880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a03_av_1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088" y="2029968"/>
            <a:ext cx="457200" cy="457200"/>
          </a:xfrm>
          <a:prstGeom prst="rect">
            <a:avLst/>
          </a:prstGeom>
        </p:spPr>
      </p:pic>
      <p:sp>
        <p:nvSpPr>
          <p:cNvPr id="19" name="a03_b_20"/>
          <p:cNvSpPr/>
          <p:nvPr/>
        </p:nvSpPr>
        <p:spPr>
          <a:xfrm>
            <a:off x="9144000" y="2450592"/>
            <a:ext cx="347472" cy="347472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pic>
        <p:nvPicPr>
          <p:cNvPr id="20" name="a03_b_2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7152" y="2523744"/>
            <a:ext cx="201168" cy="201168"/>
          </a:xfrm>
          <a:prstGeom prst="rect">
            <a:avLst/>
          </a:prstGeom>
        </p:spPr>
      </p:pic>
      <p:sp>
        <p:nvSpPr>
          <p:cNvPr id="21" name="a03_t_22"/>
          <p:cNvSpPr txBox="1"/>
          <p:nvPr/>
        </p:nvSpPr>
        <p:spPr>
          <a:xfrm>
            <a:off x="8503920" y="28529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Name</a:t>
            </a:r>
            <a:endParaRPr lang="en-US" sz="1800" dirty="0"/>
          </a:p>
        </p:txBody>
      </p:sp>
      <p:sp>
        <p:nvSpPr>
          <p:cNvPr id="22" name="a03_t_23"/>
          <p:cNvSpPr txBox="1"/>
          <p:nvPr/>
        </p:nvSpPr>
        <p:spPr>
          <a:xfrm>
            <a:off x="8503920" y="3200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Frontend &amp; patient experience</a:t>
            </a:r>
            <a:endParaRPr lang="en-US" sz="1300" dirty="0"/>
          </a:p>
        </p:txBody>
      </p:sp>
      <p:sp>
        <p:nvSpPr>
          <p:cNvPr id="23" name="a04_card_24"/>
          <p:cNvSpPr/>
          <p:nvPr/>
        </p:nvSpPr>
        <p:spPr>
          <a:xfrm>
            <a:off x="4709160" y="3886200"/>
            <a:ext cx="324612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rgbClr val="C9E6DF"/>
            </a:solidFill>
            <a:prstDash val="solid"/>
          </a:ln>
        </p:spPr>
      </p:sp>
      <p:sp>
        <p:nvSpPr>
          <p:cNvPr id="24" name="a04_av_25"/>
          <p:cNvSpPr/>
          <p:nvPr/>
        </p:nvSpPr>
        <p:spPr>
          <a:xfrm>
            <a:off x="4983480" y="416052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a04_av_2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4648" y="4361688"/>
            <a:ext cx="457200" cy="457200"/>
          </a:xfrm>
          <a:prstGeom prst="rect">
            <a:avLst/>
          </a:prstGeom>
        </p:spPr>
      </p:pic>
      <p:sp>
        <p:nvSpPr>
          <p:cNvPr id="26" name="a04_b_27"/>
          <p:cNvSpPr/>
          <p:nvPr/>
        </p:nvSpPr>
        <p:spPr>
          <a:xfrm>
            <a:off x="5623560" y="4782312"/>
            <a:ext cx="347472" cy="347472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pic>
        <p:nvPicPr>
          <p:cNvPr id="27" name="a04_b_28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96712" y="4855464"/>
            <a:ext cx="201168" cy="201168"/>
          </a:xfrm>
          <a:prstGeom prst="rect">
            <a:avLst/>
          </a:prstGeom>
        </p:spPr>
      </p:pic>
      <p:sp>
        <p:nvSpPr>
          <p:cNvPr id="28" name="a04_t_29"/>
          <p:cNvSpPr txBox="1"/>
          <p:nvPr/>
        </p:nvSpPr>
        <p:spPr>
          <a:xfrm>
            <a:off x="4983480" y="5184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Name</a:t>
            </a:r>
            <a:endParaRPr lang="en-US" sz="1800" dirty="0"/>
          </a:p>
        </p:txBody>
      </p:sp>
      <p:sp>
        <p:nvSpPr>
          <p:cNvPr id="29" name="a04_t_30"/>
          <p:cNvSpPr txBox="1"/>
          <p:nvPr/>
        </p:nvSpPr>
        <p:spPr>
          <a:xfrm>
            <a:off x="4983480" y="5532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AI safety &amp; evaluation</a:t>
            </a:r>
            <a:endParaRPr lang="en-US" sz="1300" dirty="0"/>
          </a:p>
        </p:txBody>
      </p:sp>
      <p:sp>
        <p:nvSpPr>
          <p:cNvPr id="30" name="a05_card_31"/>
          <p:cNvSpPr/>
          <p:nvPr/>
        </p:nvSpPr>
        <p:spPr>
          <a:xfrm>
            <a:off x="8229600" y="3886200"/>
            <a:ext cx="324612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rgbClr val="C9E6DF"/>
            </a:solidFill>
            <a:prstDash val="solid"/>
          </a:ln>
        </p:spPr>
      </p:sp>
      <p:sp>
        <p:nvSpPr>
          <p:cNvPr id="31" name="a05_av_32"/>
          <p:cNvSpPr/>
          <p:nvPr/>
        </p:nvSpPr>
        <p:spPr>
          <a:xfrm>
            <a:off x="8503920" y="416052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a05_av_3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5088" y="4361688"/>
            <a:ext cx="457200" cy="457200"/>
          </a:xfrm>
          <a:prstGeom prst="rect">
            <a:avLst/>
          </a:prstGeom>
        </p:spPr>
      </p:pic>
      <p:sp>
        <p:nvSpPr>
          <p:cNvPr id="33" name="a05_b_34"/>
          <p:cNvSpPr/>
          <p:nvPr/>
        </p:nvSpPr>
        <p:spPr>
          <a:xfrm>
            <a:off x="9144000" y="4782312"/>
            <a:ext cx="347472" cy="347472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pic>
        <p:nvPicPr>
          <p:cNvPr id="34" name="a05_b_3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17152" y="4855464"/>
            <a:ext cx="201168" cy="201168"/>
          </a:xfrm>
          <a:prstGeom prst="rect">
            <a:avLst/>
          </a:prstGeom>
        </p:spPr>
      </p:pic>
      <p:sp>
        <p:nvSpPr>
          <p:cNvPr id="35" name="a05_t_36"/>
          <p:cNvSpPr txBox="1"/>
          <p:nvPr/>
        </p:nvSpPr>
        <p:spPr>
          <a:xfrm>
            <a:off x="8503920" y="5184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Name</a:t>
            </a:r>
            <a:endParaRPr lang="en-US" sz="1800" dirty="0"/>
          </a:p>
        </p:txBody>
      </p:sp>
      <p:sp>
        <p:nvSpPr>
          <p:cNvPr id="36" name="a05_t_37"/>
          <p:cNvSpPr txBox="1"/>
          <p:nvPr/>
        </p:nvSpPr>
        <p:spPr>
          <a:xfrm>
            <a:off x="8503920" y="5532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Data, providers &amp; testing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65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" dur="450"/>
                                              <p:tgtEl>
                                                <p:spTgt spid="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" dur="450"/>
                                              <p:tgtEl>
                                                <p:spTgt spid="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" dur="450"/>
                                              <p:tgtEl>
                                                <p:spTgt spid="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4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" dur="450"/>
                                              <p:tgtEl>
                                                <p:spTgt spid="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9" dur="450"/>
                                              <p:tgtEl>
                                                <p:spTgt spid="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2" fill="hold">
                                  <p:stCondLst>
                                    <p:cond delay="380"/>
                                  </p:stCondLst>
                                  <p:childTnLst>
                                    <p:par>
                                      <p:cTn id="21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3" dur="450"/>
                                              <p:tgtEl>
                                                <p:spTgt spid="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4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6" dur="450"/>
                                              <p:tgtEl>
                                                <p:spTgt spid="1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9" dur="45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30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2" dur="45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33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5" dur="45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36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8" dur="45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39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1" dur="45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4" fill="hold">
                                  <p:stCondLst>
                                    <p:cond delay="760"/>
                                  </p:stCondLst>
                                  <p:childTnLst>
                                    <p:par>
                                      <p:cTn id="43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5" dur="45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46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8" dur="45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49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1" dur="45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5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4" dur="45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55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7" dur="45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5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0" dur="45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6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3" dur="450"/>
                                              <p:tgtEl>
                                                <p:spTgt spid="2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6" fill="hold">
                                  <p:stCondLst>
                                    <p:cond delay="1140"/>
                                  </p:stCondLst>
                                  <p:childTnLst>
                                    <p:par>
                                      <p:cTn id="65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7" dur="45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6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0" dur="450"/>
                                              <p:tgtEl>
                                                <p:spTgt spid="2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7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3" dur="450"/>
                                              <p:tgtEl>
                                                <p:spTgt spid="2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74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6" dur="450"/>
                                              <p:tgtEl>
                                                <p:spTgt spid="2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7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9" dur="450"/>
                                              <p:tgtEl>
                                                <p:spTgt spid="2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80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2" dur="450"/>
                                              <p:tgtEl>
                                                <p:spTgt spid="2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83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5" dur="450"/>
                                              <p:tgtEl>
                                                <p:spTgt spid="2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08" fill="hold">
                                  <p:stCondLst>
                                    <p:cond delay="1520"/>
                                  </p:stCondLst>
                                  <p:childTnLst>
                                    <p:par>
                                      <p:cTn id="87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9" dur="450"/>
                                              <p:tgtEl>
                                                <p:spTgt spid="3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90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2" dur="450"/>
                                              <p:tgtEl>
                                                <p:spTgt spid="3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93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5" dur="450"/>
                                              <p:tgtEl>
                                                <p:spTgt spid="3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96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8" dur="450"/>
                                              <p:tgtEl>
                                                <p:spTgt spid="3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99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1" dur="450"/>
                                              <p:tgtEl>
                                                <p:spTgt spid="3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0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4" dur="450"/>
                                              <p:tgtEl>
                                                <p:spTgt spid="3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05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7" dur="450"/>
                                              <p:tgtEl>
                                                <p:spTgt spid="3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3" grpId="0" animBg="1"/>
      <p:bldP spid="35" grpId="0" animBg="1"/>
      <p:bldP spid="3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Too many instructions, nothing to track</a:t>
            </a:r>
            <a:endParaRPr lang="en-US" sz="3200" dirty="0"/>
          </a:p>
        </p:txBody>
      </p:sp>
      <p:sp>
        <p:nvSpPr>
          <p:cNvPr id="4" name="a01_paper_38"/>
          <p:cNvSpPr/>
          <p:nvPr/>
        </p:nvSpPr>
        <p:spPr>
          <a:xfrm>
            <a:off x="548640" y="1554480"/>
            <a:ext cx="5486400" cy="4526280"/>
          </a:xfrm>
          <a:prstGeom prst="roundRect">
            <a:avLst>
              <a:gd name="adj" fmla="val 2424"/>
            </a:avLst>
          </a:prstGeom>
          <a:solidFill>
            <a:schemeClr val="bg1"/>
          </a:solidFill>
          <a:ln w="12700">
            <a:solidFill>
              <a:srgbClr val="C9E6DF"/>
            </a:solidFill>
            <a:prstDash val="solid"/>
          </a:ln>
        </p:spPr>
      </p:sp>
      <p:pic>
        <p:nvPicPr>
          <p:cNvPr id="5" name="a01_p_3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384048" cy="384048"/>
          </a:xfrm>
          <a:prstGeom prst="rect">
            <a:avLst/>
          </a:prstGeom>
        </p:spPr>
      </p:pic>
      <p:sp>
        <p:nvSpPr>
          <p:cNvPr id="6" name="a01_p_40"/>
          <p:cNvSpPr txBox="1"/>
          <p:nvPr/>
        </p:nvSpPr>
        <p:spPr>
          <a:xfrm>
            <a:off x="1298448" y="17830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Discharge summary (synthetic sample)</a:t>
            </a:r>
            <a:endParaRPr lang="en-US" sz="1400" dirty="0"/>
          </a:p>
        </p:txBody>
      </p:sp>
      <p:sp>
        <p:nvSpPr>
          <p:cNvPr id="7" name="a02_l_41"/>
          <p:cNvSpPr/>
          <p:nvPr/>
        </p:nvSpPr>
        <p:spPr>
          <a:xfrm>
            <a:off x="822960" y="2377440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F7E9E5"/>
          </a:solidFill>
          <a:ln w="12700">
            <a:solidFill>
              <a:srgbClr val="F7E9E5"/>
            </a:solidFill>
            <a:prstDash val="solid"/>
          </a:ln>
        </p:spPr>
      </p:sp>
      <p:sp>
        <p:nvSpPr>
          <p:cNvPr id="8" name="a02_l_42"/>
          <p:cNvSpPr txBox="1"/>
          <p:nvPr/>
        </p:nvSpPr>
        <p:spPr>
          <a:xfrm>
            <a:off x="960120" y="23774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Amlodipine 5 mg once daily, may increase to 10 mg if BP stays high</a:t>
            </a:r>
            <a:endParaRPr lang="en-US" sz="1200" dirty="0"/>
          </a:p>
        </p:txBody>
      </p:sp>
      <p:pic>
        <p:nvPicPr>
          <p:cNvPr id="9" name="a02_l_4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487168"/>
            <a:ext cx="237744" cy="237744"/>
          </a:xfrm>
          <a:prstGeom prst="rect">
            <a:avLst/>
          </a:prstGeom>
        </p:spPr>
      </p:pic>
      <p:sp>
        <p:nvSpPr>
          <p:cNvPr id="10" name="a03_l_44"/>
          <p:cNvSpPr/>
          <p:nvPr/>
        </p:nvSpPr>
        <p:spPr>
          <a:xfrm>
            <a:off x="822960" y="2926080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EAFBF6"/>
          </a:solidFill>
          <a:ln w="12700">
            <a:solidFill>
              <a:srgbClr val="EAFBF6"/>
            </a:solidFill>
            <a:prstDash val="solid"/>
          </a:ln>
        </p:spPr>
      </p:sp>
      <p:sp>
        <p:nvSpPr>
          <p:cNvPr id="11" name="a03_l_45"/>
          <p:cNvSpPr txBox="1"/>
          <p:nvPr/>
        </p:nvSpPr>
        <p:spPr>
          <a:xfrm>
            <a:off x="960120" y="29260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See Dr. Mehta at Green Leaf Hospital on 20 Oct 2026</a:t>
            </a:r>
            <a:endParaRPr lang="en-US" sz="1200" dirty="0"/>
          </a:p>
        </p:txBody>
      </p:sp>
      <p:sp>
        <p:nvSpPr>
          <p:cNvPr id="12" name="a04_l_46"/>
          <p:cNvSpPr/>
          <p:nvPr/>
        </p:nvSpPr>
        <p:spPr>
          <a:xfrm>
            <a:off x="822960" y="3474720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F7E9E5"/>
          </a:solidFill>
          <a:ln w="12700">
            <a:solidFill>
              <a:srgbClr val="F7E9E5"/>
            </a:solidFill>
            <a:prstDash val="solid"/>
          </a:ln>
        </p:spPr>
      </p:sp>
      <p:sp>
        <p:nvSpPr>
          <p:cNvPr id="13" name="a04_l_47"/>
          <p:cNvSpPr txBox="1"/>
          <p:nvPr/>
        </p:nvSpPr>
        <p:spPr>
          <a:xfrm>
            <a:off x="960120" y="34747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Chest X-ray to be done, date to be decided.</a:t>
            </a:r>
            <a:endParaRPr lang="en-US" sz="1200" dirty="0"/>
          </a:p>
        </p:txBody>
      </p:sp>
      <p:pic>
        <p:nvPicPr>
          <p:cNvPr id="14" name="a04_l_4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3584448"/>
            <a:ext cx="237744" cy="237744"/>
          </a:xfrm>
          <a:prstGeom prst="rect">
            <a:avLst/>
          </a:prstGeom>
        </p:spPr>
      </p:pic>
      <p:sp>
        <p:nvSpPr>
          <p:cNvPr id="15" name="a05_l_49"/>
          <p:cNvSpPr/>
          <p:nvPr/>
        </p:nvSpPr>
        <p:spPr>
          <a:xfrm>
            <a:off x="822960" y="4023360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F7E9E5"/>
          </a:solidFill>
          <a:ln w="12700">
            <a:solidFill>
              <a:srgbClr val="F7E9E5"/>
            </a:solidFill>
            <a:prstDash val="solid"/>
          </a:ln>
        </p:spPr>
      </p:sp>
      <p:sp>
        <p:nvSpPr>
          <p:cNvPr id="16" name="a05_l_50"/>
          <p:cNvSpPr txBox="1"/>
          <p:nvPr/>
        </p:nvSpPr>
        <p:spPr>
          <a:xfrm>
            <a:off x="960120" y="40233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Stop the old BP tablet. Continue the old BP tablet in the morning.</a:t>
            </a:r>
            <a:endParaRPr lang="en-US" sz="1200" dirty="0"/>
          </a:p>
        </p:txBody>
      </p:sp>
      <p:pic>
        <p:nvPicPr>
          <p:cNvPr id="17" name="a05_l_5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4133088"/>
            <a:ext cx="237744" cy="237744"/>
          </a:xfrm>
          <a:prstGeom prst="rect">
            <a:avLst/>
          </a:prstGeom>
        </p:spPr>
      </p:pic>
      <p:sp>
        <p:nvSpPr>
          <p:cNvPr id="18" name="a06_l_52"/>
          <p:cNvSpPr/>
          <p:nvPr/>
        </p:nvSpPr>
        <p:spPr>
          <a:xfrm>
            <a:off x="822960" y="4572000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F7E9E5"/>
          </a:solidFill>
          <a:ln w="12700">
            <a:solidFill>
              <a:srgbClr val="F7E9E5"/>
            </a:solidFill>
            <a:prstDash val="solid"/>
          </a:ln>
        </p:spPr>
      </p:sp>
      <p:sp>
        <p:nvSpPr>
          <p:cNvPr id="19" name="a06_l_53"/>
          <p:cNvSpPr txBox="1"/>
          <p:nvPr/>
        </p:nvSpPr>
        <p:spPr>
          <a:xfrm>
            <a:off x="960120" y="45720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Cough syrup 10 ml as needed for cough</a:t>
            </a:r>
            <a:endParaRPr lang="en-US" sz="1200" dirty="0"/>
          </a:p>
        </p:txBody>
      </p:sp>
      <p:pic>
        <p:nvPicPr>
          <p:cNvPr id="20" name="a06_l_5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4681728"/>
            <a:ext cx="237744" cy="237744"/>
          </a:xfrm>
          <a:prstGeom prst="rect">
            <a:avLst/>
          </a:prstGeom>
        </p:spPr>
      </p:pic>
      <p:sp>
        <p:nvSpPr>
          <p:cNvPr id="21" name="a07_l_55"/>
          <p:cNvSpPr/>
          <p:nvPr/>
        </p:nvSpPr>
        <p:spPr>
          <a:xfrm>
            <a:off x="822960" y="5120640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EAFBF6"/>
          </a:solidFill>
          <a:ln w="12700">
            <a:solidFill>
              <a:srgbClr val="EAFBF6"/>
            </a:solidFill>
            <a:prstDash val="solid"/>
          </a:ln>
        </p:spPr>
      </p:sp>
      <p:sp>
        <p:nvSpPr>
          <p:cNvPr id="22" name="a07_l_56"/>
          <p:cNvSpPr txBox="1"/>
          <p:nvPr/>
        </p:nvSpPr>
        <p:spPr>
          <a:xfrm>
            <a:off x="960120" y="51206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Avoid salt in food. Rest at home.</a:t>
            </a:r>
            <a:endParaRPr lang="en-US" sz="1200" dirty="0"/>
          </a:p>
        </p:txBody>
      </p:sp>
      <p:sp>
        <p:nvSpPr>
          <p:cNvPr id="23" name="a07_cap_57"/>
          <p:cNvSpPr txBox="1"/>
          <p:nvPr/>
        </p:nvSpPr>
        <p:spPr>
          <a:xfrm>
            <a:off x="822960" y="56875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Highlighted lines are vague, conflicting or missing a date.</a:t>
            </a:r>
            <a:endParaRPr lang="en-US" sz="1100" dirty="0"/>
          </a:p>
        </p:txBody>
      </p:sp>
      <p:sp>
        <p:nvSpPr>
          <p:cNvPr id="24" name="a08_o_58"/>
          <p:cNvSpPr/>
          <p:nvPr/>
        </p:nvSpPr>
        <p:spPr>
          <a:xfrm>
            <a:off x="6492240" y="16002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a08_o_59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832" y="1764792"/>
            <a:ext cx="356616" cy="356616"/>
          </a:xfrm>
          <a:prstGeom prst="rect">
            <a:avLst/>
          </a:prstGeom>
        </p:spPr>
      </p:pic>
      <p:sp>
        <p:nvSpPr>
          <p:cNvPr id="26" name="a08_t_60"/>
          <p:cNvSpPr txBox="1"/>
          <p:nvPr/>
        </p:nvSpPr>
        <p:spPr>
          <a:xfrm>
            <a:off x="7406640" y="15819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read</a:t>
            </a:r>
            <a:endParaRPr lang="en-US" sz="1800" dirty="0"/>
          </a:p>
        </p:txBody>
      </p:sp>
      <p:sp>
        <p:nvSpPr>
          <p:cNvPr id="27" name="a08_t_61"/>
          <p:cNvSpPr txBox="1"/>
          <p:nvPr/>
        </p:nvSpPr>
        <p:spPr>
          <a:xfrm>
            <a:off x="7406640" y="19293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Dense medical shorthand that patients and families struggle to follow.</a:t>
            </a:r>
            <a:endParaRPr lang="en-US" sz="1350" dirty="0"/>
          </a:p>
        </p:txBody>
      </p:sp>
      <p:sp>
        <p:nvSpPr>
          <p:cNvPr id="28" name="a09_o_62"/>
          <p:cNvSpPr/>
          <p:nvPr/>
        </p:nvSpPr>
        <p:spPr>
          <a:xfrm>
            <a:off x="6492240" y="2578608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a09_o_6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6832" y="2743200"/>
            <a:ext cx="356616" cy="356616"/>
          </a:xfrm>
          <a:prstGeom prst="rect">
            <a:avLst/>
          </a:prstGeom>
        </p:spPr>
      </p:pic>
      <p:sp>
        <p:nvSpPr>
          <p:cNvPr id="30" name="a09_t_64"/>
          <p:cNvSpPr txBox="1"/>
          <p:nvPr/>
        </p:nvSpPr>
        <p:spPr>
          <a:xfrm>
            <a:off x="7406640" y="25603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to track</a:t>
            </a:r>
            <a:endParaRPr lang="en-US" sz="1800" dirty="0"/>
          </a:p>
        </p:txBody>
      </p:sp>
      <p:sp>
        <p:nvSpPr>
          <p:cNvPr id="31" name="a09_t_65"/>
          <p:cNvSpPr txBox="1"/>
          <p:nvPr/>
        </p:nvSpPr>
        <p:spPr>
          <a:xfrm>
            <a:off x="7406640" y="29077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"After 2 weeks" stays on paper. No tasks, no reminders, no status.</a:t>
            </a:r>
            <a:endParaRPr lang="en-US" sz="1350" dirty="0"/>
          </a:p>
        </p:txBody>
      </p:sp>
      <p:sp>
        <p:nvSpPr>
          <p:cNvPr id="32" name="a10_o_66"/>
          <p:cNvSpPr/>
          <p:nvPr/>
        </p:nvSpPr>
        <p:spPr>
          <a:xfrm>
            <a:off x="6492240" y="3557016"/>
            <a:ext cx="685800" cy="6858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3" name="a10_o_6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6832" y="3721608"/>
            <a:ext cx="356616" cy="356616"/>
          </a:xfrm>
          <a:prstGeom prst="rect">
            <a:avLst/>
          </a:prstGeom>
        </p:spPr>
      </p:pic>
      <p:sp>
        <p:nvSpPr>
          <p:cNvPr id="34" name="a10_t_68"/>
          <p:cNvSpPr txBox="1"/>
          <p:nvPr/>
        </p:nvSpPr>
        <p:spPr>
          <a:xfrm>
            <a:off x="7406640" y="35387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Unclear lines reach home</a:t>
            </a:r>
            <a:endParaRPr lang="en-US" sz="1800" dirty="0"/>
          </a:p>
        </p:txBody>
      </p:sp>
      <p:sp>
        <p:nvSpPr>
          <p:cNvPr id="35" name="a10_t_69"/>
          <p:cNvSpPr txBox="1"/>
          <p:nvPr/>
        </p:nvSpPr>
        <p:spPr>
          <a:xfrm>
            <a:off x="7406640" y="3886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"As needed", "stop ... continue" with nobody to ask.</a:t>
            </a:r>
            <a:endParaRPr lang="en-US" sz="1350" dirty="0"/>
          </a:p>
        </p:txBody>
      </p:sp>
      <p:sp>
        <p:nvSpPr>
          <p:cNvPr id="36" name="a11_o_70"/>
          <p:cNvSpPr/>
          <p:nvPr/>
        </p:nvSpPr>
        <p:spPr>
          <a:xfrm>
            <a:off x="6492240" y="4535424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7" name="a11_o_71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6832" y="4700016"/>
            <a:ext cx="356616" cy="356616"/>
          </a:xfrm>
          <a:prstGeom prst="rect">
            <a:avLst/>
          </a:prstGeom>
        </p:spPr>
      </p:pic>
      <p:sp>
        <p:nvSpPr>
          <p:cNvPr id="38" name="a11_t_72"/>
          <p:cNvSpPr txBox="1"/>
          <p:nvPr/>
        </p:nvSpPr>
        <p:spPr>
          <a:xfrm>
            <a:off x="7406640" y="45171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gap</a:t>
            </a:r>
            <a:endParaRPr lang="en-US" sz="1800" dirty="0"/>
          </a:p>
        </p:txBody>
      </p:sp>
      <p:sp>
        <p:nvSpPr>
          <p:cNvPr id="39" name="a11_t_73"/>
          <p:cNvSpPr txBox="1"/>
          <p:nvPr/>
        </p:nvSpPr>
        <p:spPr>
          <a:xfrm>
            <a:off x="7406640" y="48646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Many families read Tamil or Hindi better than English.</a:t>
            </a:r>
            <a:endParaRPr lang="en-US" sz="1350" dirty="0"/>
          </a:p>
        </p:txBody>
      </p:sp>
      <p:sp>
        <p:nvSpPr>
          <p:cNvPr id="40" name="a12_res_74"/>
          <p:cNvSpPr/>
          <p:nvPr/>
        </p:nvSpPr>
        <p:spPr>
          <a:xfrm>
            <a:off x="6492240" y="5532120"/>
            <a:ext cx="5120640" cy="54864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1" name="a12_res_75"/>
          <p:cNvSpPr txBox="1"/>
          <p:nvPr/>
        </p:nvSpPr>
        <p:spPr>
          <a:xfrm>
            <a:off x="6675120" y="55321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Result: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missed visits, wrong doses, a higher risk of readmission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65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" dur="450"/>
                                              <p:tgtEl>
                                                <p:spTgt spid="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" dur="450"/>
                                              <p:tgtEl>
                                                <p:spTgt spid="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" dur="450"/>
                                              <p:tgtEl>
                                                <p:spTgt spid="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4" fill="hold">
                                  <p:stCondLst>
                                    <p:cond delay="380"/>
                                  </p:stCondLst>
                                  <p:childTnLst>
                                    <p:par>
                                      <p:cTn id="15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7" dur="450"/>
                                              <p:tgtEl>
                                                <p:spTgt spid="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0" dur="450"/>
                                              <p:tgtEl>
                                                <p:spTgt spid="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3" dur="450"/>
                                              <p:tgtEl>
                                                <p:spTgt spid="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1" fill="hold">
                                  <p:stCondLst>
                                    <p:cond delay="760"/>
                                  </p:stCondLst>
                                  <p:childTnLst>
                                    <p:par>
                                      <p:cTn id="25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7" dur="450"/>
                                              <p:tgtEl>
                                                <p:spTgt spid="1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0" dur="45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1" fill="hold">
                                  <p:stCondLst>
                                    <p:cond delay="1140"/>
                                  </p:stCondLst>
                                  <p:childTnLst>
                                    <p:par>
                                      <p:cTn id="3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4" dur="45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35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7" dur="45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3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0" dur="45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1" fill="hold">
                                  <p:stCondLst>
                                    <p:cond delay="1520"/>
                                  </p:stCondLst>
                                  <p:childTnLst>
                                    <p:par>
                                      <p:cTn id="4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4" dur="45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45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7" dur="45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4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0" dur="45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1" fill="hold">
                                  <p:stCondLst>
                                    <p:cond delay="1900"/>
                                  </p:stCondLst>
                                  <p:childTnLst>
                                    <p:par>
                                      <p:cTn id="5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4" dur="45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55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7" dur="45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5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0" dur="45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1" fill="hold">
                                  <p:stCondLst>
                                    <p:cond delay="2280"/>
                                  </p:stCondLst>
                                  <p:childTnLst>
                                    <p:par>
                                      <p:cTn id="6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4" dur="45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65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7" dur="450"/>
                                              <p:tgtEl>
                                                <p:spTgt spid="2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6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0" dur="45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2660"/>
                                  </p:stCondLst>
                                  <p:childTnLst>
                                    <p:par>
                                      <p:cTn id="7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4" dur="450"/>
                                              <p:tgtEl>
                                                <p:spTgt spid="2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75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7" dur="450"/>
                                              <p:tgtEl>
                                                <p:spTgt spid="2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7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0" dur="450"/>
                                              <p:tgtEl>
                                                <p:spTgt spid="2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8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3" dur="450"/>
                                              <p:tgtEl>
                                                <p:spTgt spid="2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7" fill="hold">
                                  <p:stCondLst>
                                    <p:cond delay="3040"/>
                                  </p:stCondLst>
                                  <p:childTnLst>
                                    <p:par>
                                      <p:cTn id="85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7" dur="450"/>
                                              <p:tgtEl>
                                                <p:spTgt spid="2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8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0" dur="450"/>
                                              <p:tgtEl>
                                                <p:spTgt spid="2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9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3" dur="450"/>
                                              <p:tgtEl>
                                                <p:spTgt spid="3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94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6" dur="450"/>
                                              <p:tgtEl>
                                                <p:spTgt spid="3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3420"/>
                                  </p:stCondLst>
                                  <p:childTnLst>
                                    <p:par>
                                      <p:cTn id="98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0" dur="450"/>
                                              <p:tgtEl>
                                                <p:spTgt spid="3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0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3" dur="450"/>
                                              <p:tgtEl>
                                                <p:spTgt spid="3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04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6" dur="450"/>
                                              <p:tgtEl>
                                                <p:spTgt spid="3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0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9" dur="450"/>
                                              <p:tgtEl>
                                                <p:spTgt spid="3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23" fill="hold">
                                  <p:stCondLst>
                                    <p:cond delay="3800"/>
                                  </p:stCondLst>
                                  <p:childTnLst>
                                    <p:par>
                                      <p:cTn id="111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3" dur="450"/>
                                              <p:tgtEl>
                                                <p:spTgt spid="3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14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6" dur="450"/>
                                              <p:tgtEl>
                                                <p:spTgt spid="3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1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9" dur="450"/>
                                              <p:tgtEl>
                                                <p:spTgt spid="3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20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2" dur="450"/>
                                              <p:tgtEl>
                                                <p:spTgt spid="3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30" fill="hold">
                                  <p:stCondLst>
                                    <p:cond delay="4180"/>
                                  </p:stCondLst>
                                  <p:childTnLst>
                                    <p:par>
                                      <p:cTn id="124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6" dur="450"/>
                                              <p:tgtEl>
                                                <p:spTgt spid="4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2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9" dur="450"/>
                                              <p:tgtEl>
                                                <p:spTgt spid="4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4" grpId="0" animBg="1"/>
      <p:bldP spid="35" grpId="0" animBg="1"/>
      <p:bldP spid="36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OUR SOLUTION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From discharge summary to a plan you can track</a:t>
            </a:r>
            <a:endParaRPr lang="en-US" sz="3200" dirty="0"/>
          </a:p>
        </p:txBody>
      </p:sp>
      <p:sp>
        <p:nvSpPr>
          <p:cNvPr id="4" name="a01_in_76"/>
          <p:cNvSpPr/>
          <p:nvPr/>
        </p:nvSpPr>
        <p:spPr>
          <a:xfrm>
            <a:off x="548640" y="1600200"/>
            <a:ext cx="301752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12700">
            <a:solidFill>
              <a:srgbClr val="C9E6DF"/>
            </a:solidFill>
            <a:prstDash val="solid"/>
          </a:ln>
        </p:spPr>
      </p:sp>
      <p:sp>
        <p:nvSpPr>
          <p:cNvPr id="5" name="a01_in_77"/>
          <p:cNvSpPr txBox="1"/>
          <p:nvPr/>
        </p:nvSpPr>
        <p:spPr>
          <a:xfrm>
            <a:off x="777240" y="1783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WHAT GOES IN</a:t>
            </a:r>
            <a:endParaRPr lang="en-US" sz="1100" dirty="0"/>
          </a:p>
        </p:txBody>
      </p:sp>
      <p:pic>
        <p:nvPicPr>
          <p:cNvPr id="6" name="a01_in_7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94560"/>
            <a:ext cx="777240" cy="777240"/>
          </a:xfrm>
          <a:prstGeom prst="rect">
            <a:avLst/>
          </a:prstGeom>
        </p:spPr>
      </p:pic>
      <p:sp>
        <p:nvSpPr>
          <p:cNvPr id="7" name="a01_in_79"/>
          <p:cNvSpPr txBox="1"/>
          <p:nvPr/>
        </p:nvSpPr>
        <p:spPr>
          <a:xfrm>
            <a:off x="777240" y="3063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Discharge summary</a:t>
            </a:r>
            <a:endParaRPr lang="en-US" sz="1800" dirty="0"/>
          </a:p>
        </p:txBody>
      </p:sp>
      <p:sp>
        <p:nvSpPr>
          <p:cNvPr id="8" name="a01_in_80"/>
          <p:cNvSpPr txBox="1"/>
          <p:nvPr/>
        </p:nvSpPr>
        <p:spPr>
          <a:xfrm>
            <a:off x="777240" y="3429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Pasted text or PDF. Synthetic data only.</a:t>
            </a:r>
            <a:endParaRPr lang="en-US" sz="1300" dirty="0"/>
          </a:p>
        </p:txBody>
      </p:sp>
      <p:sp>
        <p:nvSpPr>
          <p:cNvPr id="9" name="a02w_arrow_81"/>
          <p:cNvSpPr/>
          <p:nvPr/>
        </p:nvSpPr>
        <p:spPr>
          <a:xfrm>
            <a:off x="3703320" y="2852928"/>
            <a:ext cx="731520" cy="0"/>
          </a:xfrm>
          <a:prstGeom prst="line">
            <a:avLst/>
          </a:prstGeom>
          <a:noFill/>
          <a:ln w="28575">
            <a:solidFill>
              <a:srgbClr val="0E7C7B"/>
            </a:solidFill>
            <a:prstDash val="solid"/>
            <a:tailEnd type="triangle"/>
          </a:ln>
        </p:spPr>
      </p:sp>
      <p:sp>
        <p:nvSpPr>
          <p:cNvPr id="10" name="a03_eng_82"/>
          <p:cNvSpPr/>
          <p:nvPr/>
        </p:nvSpPr>
        <p:spPr>
          <a:xfrm>
            <a:off x="4572000" y="1527048"/>
            <a:ext cx="2651760" cy="2651760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accent2"/>
            </a:solidFill>
            <a:prstDash val="solid"/>
          </a:ln>
        </p:spPr>
      </p:sp>
      <p:pic>
        <p:nvPicPr>
          <p:cNvPr id="11" name="a03_eng_8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874520"/>
            <a:ext cx="640080" cy="640080"/>
          </a:xfrm>
          <a:prstGeom prst="rect">
            <a:avLst/>
          </a:prstGeom>
        </p:spPr>
      </p:pic>
      <p:sp>
        <p:nvSpPr>
          <p:cNvPr id="12" name="a03_eng_84"/>
          <p:cNvSpPr txBox="1"/>
          <p:nvPr/>
        </p:nvSpPr>
        <p:spPr>
          <a:xfrm>
            <a:off x="4572000" y="2560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AI agents</a:t>
            </a:r>
            <a:endParaRPr lang="en-US" sz="2400" dirty="0"/>
          </a:p>
        </p:txBody>
      </p:sp>
      <p:sp>
        <p:nvSpPr>
          <p:cNvPr id="13" name="a03_eng_85"/>
          <p:cNvSpPr txBox="1"/>
          <p:nvPr/>
        </p:nvSpPr>
        <p:spPr>
          <a:xfrm>
            <a:off x="4572000" y="3017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+ doctor review</a:t>
            </a:r>
            <a:endParaRPr lang="en-US" sz="1500" dirty="0"/>
          </a:p>
        </p:txBody>
      </p:sp>
      <p:sp>
        <p:nvSpPr>
          <p:cNvPr id="14" name="a04w_arrow_86"/>
          <p:cNvSpPr/>
          <p:nvPr/>
        </p:nvSpPr>
        <p:spPr>
          <a:xfrm>
            <a:off x="7360920" y="2852928"/>
            <a:ext cx="731520" cy="0"/>
          </a:xfrm>
          <a:prstGeom prst="line">
            <a:avLst/>
          </a:prstGeom>
          <a:noFill/>
          <a:ln w="28575">
            <a:solidFill>
              <a:srgbClr val="0E7C7B"/>
            </a:solidFill>
            <a:prstDash val="solid"/>
            <a:tailEnd type="triangle"/>
          </a:ln>
        </p:spPr>
      </p:sp>
      <p:sp>
        <p:nvSpPr>
          <p:cNvPr id="15" name="a05_out_87"/>
          <p:cNvSpPr/>
          <p:nvPr/>
        </p:nvSpPr>
        <p:spPr>
          <a:xfrm>
            <a:off x="8229600" y="1600200"/>
            <a:ext cx="3383280" cy="2514600"/>
          </a:xfrm>
          <a:prstGeom prst="roundRect">
            <a:avLst>
              <a:gd name="adj" fmla="val 436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a05_out_88"/>
          <p:cNvSpPr txBox="1"/>
          <p:nvPr/>
        </p:nvSpPr>
        <p:spPr>
          <a:xfrm>
            <a:off x="8458200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3"/>
                </a:solidFill>
              </a:rPr>
              <a:t>WHAT COMES OUT</a:t>
            </a:r>
            <a:endParaRPr lang="en-US" sz="1100" dirty="0"/>
          </a:p>
        </p:txBody>
      </p:sp>
      <p:sp>
        <p:nvSpPr>
          <p:cNvPr id="17" name="a05_out_89"/>
          <p:cNvSpPr/>
          <p:nvPr/>
        </p:nvSpPr>
        <p:spPr>
          <a:xfrm>
            <a:off x="8458200" y="2194560"/>
            <a:ext cx="2926080" cy="493776"/>
          </a:xfrm>
          <a:prstGeom prst="roundRect">
            <a:avLst>
              <a:gd name="adj" fmla="val 148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8" name="a05_out_9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2313432"/>
            <a:ext cx="256032" cy="256032"/>
          </a:xfrm>
          <a:prstGeom prst="rect">
            <a:avLst/>
          </a:prstGeom>
        </p:spPr>
      </p:pic>
      <p:sp>
        <p:nvSpPr>
          <p:cNvPr id="19" name="a05_out_91"/>
          <p:cNvSpPr txBox="1"/>
          <p:nvPr/>
        </p:nvSpPr>
        <p:spPr>
          <a:xfrm>
            <a:off x="8942832" y="2194560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Morning: Aspirin 75 mg + 1 more</a:t>
            </a:r>
            <a:endParaRPr lang="en-US" sz="1150" dirty="0"/>
          </a:p>
        </p:txBody>
      </p:sp>
      <p:sp>
        <p:nvSpPr>
          <p:cNvPr id="20" name="a05_out_92"/>
          <p:cNvSpPr/>
          <p:nvPr/>
        </p:nvSpPr>
        <p:spPr>
          <a:xfrm>
            <a:off x="8458200" y="2798064"/>
            <a:ext cx="2926080" cy="493776"/>
          </a:xfrm>
          <a:prstGeom prst="roundRect">
            <a:avLst>
              <a:gd name="adj" fmla="val 148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1" name="a05_out_9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2916936"/>
            <a:ext cx="256032" cy="256032"/>
          </a:xfrm>
          <a:prstGeom prst="rect">
            <a:avLst/>
          </a:prstGeom>
        </p:spPr>
      </p:pic>
      <p:sp>
        <p:nvSpPr>
          <p:cNvPr id="22" name="a05_out_94"/>
          <p:cNvSpPr txBox="1"/>
          <p:nvPr/>
        </p:nvSpPr>
        <p:spPr>
          <a:xfrm>
            <a:off x="8942832" y="2798064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Cardiology review, 24 Oct</a:t>
            </a:r>
            <a:endParaRPr lang="en-US" sz="1150" dirty="0"/>
          </a:p>
        </p:txBody>
      </p:sp>
      <p:sp>
        <p:nvSpPr>
          <p:cNvPr id="23" name="a05_out_95"/>
          <p:cNvSpPr/>
          <p:nvPr/>
        </p:nvSpPr>
        <p:spPr>
          <a:xfrm>
            <a:off x="8458200" y="3401568"/>
            <a:ext cx="2926080" cy="493776"/>
          </a:xfrm>
          <a:prstGeom prst="roundRect">
            <a:avLst>
              <a:gd name="adj" fmla="val 14815"/>
            </a:avLst>
          </a:prstGeom>
          <a:solidFill>
            <a:srgbClr val="B5452F"/>
          </a:solidFill>
          <a:ln w="12700">
            <a:solidFill>
              <a:srgbClr val="B5452F"/>
            </a:solidFill>
            <a:prstDash val="solid"/>
          </a:ln>
        </p:spPr>
      </p:sp>
      <p:pic>
        <p:nvPicPr>
          <p:cNvPr id="24" name="a05_out_9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7072" y="3520440"/>
            <a:ext cx="256032" cy="256032"/>
          </a:xfrm>
          <a:prstGeom prst="rect">
            <a:avLst/>
          </a:prstGeom>
        </p:spPr>
      </p:pic>
      <p:sp>
        <p:nvSpPr>
          <p:cNvPr id="25" name="a05_out_97"/>
          <p:cNvSpPr txBox="1"/>
          <p:nvPr/>
        </p:nvSpPr>
        <p:spPr>
          <a:xfrm>
            <a:off x="8942832" y="340156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Waiting for doctor review</a:t>
            </a:r>
            <a:endParaRPr lang="en-US" sz="1150" dirty="0"/>
          </a:p>
        </p:txBody>
      </p:sp>
      <p:sp>
        <p:nvSpPr>
          <p:cNvPr id="26" name="a06_c_98"/>
          <p:cNvSpPr/>
          <p:nvPr/>
        </p:nvSpPr>
        <p:spPr>
          <a:xfrm>
            <a:off x="548640" y="4434840"/>
            <a:ext cx="3538728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rgbClr val="C9E6DF"/>
            </a:solidFill>
            <a:prstDash val="solid"/>
          </a:ln>
        </p:spPr>
      </p:sp>
      <p:sp>
        <p:nvSpPr>
          <p:cNvPr id="27" name="a06_c_99"/>
          <p:cNvSpPr/>
          <p:nvPr/>
        </p:nvSpPr>
        <p:spPr>
          <a:xfrm>
            <a:off x="685800" y="4562856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8" name="a06_c_100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4672584"/>
            <a:ext cx="237744" cy="237744"/>
          </a:xfrm>
          <a:prstGeom prst="rect">
            <a:avLst/>
          </a:prstGeom>
        </p:spPr>
      </p:pic>
      <p:sp>
        <p:nvSpPr>
          <p:cNvPr id="29" name="a06_c_101"/>
          <p:cNvSpPr txBox="1"/>
          <p:nvPr/>
        </p:nvSpPr>
        <p:spPr>
          <a:xfrm>
            <a:off x="1280160" y="450799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Extract &amp; verify</a:t>
            </a:r>
            <a:endParaRPr lang="en-US" sz="1400" dirty="0"/>
          </a:p>
        </p:txBody>
      </p:sp>
      <p:sp>
        <p:nvSpPr>
          <p:cNvPr id="30" name="a06_c_102"/>
          <p:cNvSpPr txBox="1"/>
          <p:nvPr/>
        </p:nvSpPr>
        <p:spPr>
          <a:xfrm>
            <a:off x="128016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Every item quotes its exact source line</a:t>
            </a:r>
            <a:endParaRPr lang="en-US" sz="1100" dirty="0"/>
          </a:p>
        </p:txBody>
      </p:sp>
      <p:sp>
        <p:nvSpPr>
          <p:cNvPr id="31" name="a07_c_103"/>
          <p:cNvSpPr/>
          <p:nvPr/>
        </p:nvSpPr>
        <p:spPr>
          <a:xfrm>
            <a:off x="4270248" y="4434840"/>
            <a:ext cx="3538728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rgbClr val="C9E6DF"/>
            </a:solidFill>
            <a:prstDash val="solid"/>
          </a:ln>
        </p:spPr>
      </p:sp>
      <p:sp>
        <p:nvSpPr>
          <p:cNvPr id="32" name="a07_c_104"/>
          <p:cNvSpPr/>
          <p:nvPr/>
        </p:nvSpPr>
        <p:spPr>
          <a:xfrm>
            <a:off x="4407408" y="4562856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3" name="a07_c_10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7136" y="4672584"/>
            <a:ext cx="237744" cy="237744"/>
          </a:xfrm>
          <a:prstGeom prst="rect">
            <a:avLst/>
          </a:prstGeom>
        </p:spPr>
      </p:pic>
      <p:sp>
        <p:nvSpPr>
          <p:cNvPr id="34" name="a07_c_106"/>
          <p:cNvSpPr txBox="1"/>
          <p:nvPr/>
        </p:nvSpPr>
        <p:spPr>
          <a:xfrm>
            <a:off x="5001768" y="450799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Tasks, reminders, timeline</a:t>
            </a:r>
            <a:endParaRPr lang="en-US" sz="1400" dirty="0"/>
          </a:p>
        </p:txBody>
      </p:sp>
      <p:sp>
        <p:nvSpPr>
          <p:cNvPr id="35" name="a07_c_107"/>
          <p:cNvSpPr txBox="1"/>
          <p:nvPr/>
        </p:nvSpPr>
        <p:spPr>
          <a:xfrm>
            <a:off x="5001768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Pending · Completed · Needs Review</a:t>
            </a:r>
            <a:endParaRPr lang="en-US" sz="1100" dirty="0"/>
          </a:p>
        </p:txBody>
      </p:sp>
      <p:sp>
        <p:nvSpPr>
          <p:cNvPr id="36" name="a08_c_108"/>
          <p:cNvSpPr/>
          <p:nvPr/>
        </p:nvSpPr>
        <p:spPr>
          <a:xfrm>
            <a:off x="7991856" y="4434840"/>
            <a:ext cx="3538728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rgbClr val="C9E6DF"/>
            </a:solidFill>
            <a:prstDash val="solid"/>
          </a:ln>
        </p:spPr>
      </p:sp>
      <p:sp>
        <p:nvSpPr>
          <p:cNvPr id="37" name="a08_c_109"/>
          <p:cNvSpPr/>
          <p:nvPr/>
        </p:nvSpPr>
        <p:spPr>
          <a:xfrm>
            <a:off x="8129016" y="4562856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8" name="a08_c_110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38744" y="4672584"/>
            <a:ext cx="237744" cy="237744"/>
          </a:xfrm>
          <a:prstGeom prst="rect">
            <a:avLst/>
          </a:prstGeom>
        </p:spPr>
      </p:pic>
      <p:sp>
        <p:nvSpPr>
          <p:cNvPr id="39" name="a08_c_111"/>
          <p:cNvSpPr txBox="1"/>
          <p:nvPr/>
        </p:nvSpPr>
        <p:spPr>
          <a:xfrm>
            <a:off x="8723376" y="450799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6 languages</a:t>
            </a:r>
            <a:endParaRPr lang="en-US" sz="1400" dirty="0"/>
          </a:p>
        </p:txBody>
      </p:sp>
      <p:sp>
        <p:nvSpPr>
          <p:cNvPr id="40" name="a08_c_112"/>
          <p:cNvSpPr txBox="1"/>
          <p:nvPr/>
        </p:nvSpPr>
        <p:spPr>
          <a:xfrm>
            <a:off x="8723376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English, Tamil, Hindi, Telugu, Kannada, Malayalam</a:t>
            </a:r>
            <a:endParaRPr lang="en-US" sz="1100" dirty="0"/>
          </a:p>
        </p:txBody>
      </p:sp>
      <p:sp>
        <p:nvSpPr>
          <p:cNvPr id="41" name="a09_c_113"/>
          <p:cNvSpPr/>
          <p:nvPr/>
        </p:nvSpPr>
        <p:spPr>
          <a:xfrm>
            <a:off x="548640" y="5276088"/>
            <a:ext cx="3538728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rgbClr val="C9E6DF"/>
            </a:solidFill>
            <a:prstDash val="solid"/>
          </a:ln>
        </p:spPr>
      </p:sp>
      <p:sp>
        <p:nvSpPr>
          <p:cNvPr id="42" name="a09_c_114"/>
          <p:cNvSpPr/>
          <p:nvPr/>
        </p:nvSpPr>
        <p:spPr>
          <a:xfrm>
            <a:off x="685800" y="5404104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3" name="a09_c_11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528" y="5513832"/>
            <a:ext cx="237744" cy="237744"/>
          </a:xfrm>
          <a:prstGeom prst="rect">
            <a:avLst/>
          </a:prstGeom>
        </p:spPr>
      </p:pic>
      <p:sp>
        <p:nvSpPr>
          <p:cNvPr id="44" name="a09_c_116"/>
          <p:cNvSpPr txBox="1"/>
          <p:nvPr/>
        </p:nvSpPr>
        <p:spPr>
          <a:xfrm>
            <a:off x="1280160" y="534924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Provider suggestions</a:t>
            </a:r>
            <a:endParaRPr lang="en-US" sz="1400" dirty="0"/>
          </a:p>
        </p:txBody>
      </p:sp>
      <p:sp>
        <p:nvSpPr>
          <p:cNvPr id="45" name="a09_c_117"/>
          <p:cNvSpPr txBox="1"/>
          <p:nvPr/>
        </p:nvSpPr>
        <p:spPr>
          <a:xfrm>
            <a:off x="1280160" y="5641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Top 3 nearby, with reasons. Never a guarantee</a:t>
            </a:r>
            <a:endParaRPr lang="en-US" sz="1100" dirty="0"/>
          </a:p>
        </p:txBody>
      </p:sp>
      <p:sp>
        <p:nvSpPr>
          <p:cNvPr id="46" name="a10_c_118"/>
          <p:cNvSpPr/>
          <p:nvPr/>
        </p:nvSpPr>
        <p:spPr>
          <a:xfrm>
            <a:off x="4270248" y="5276088"/>
            <a:ext cx="3538728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rgbClr val="C9E6DF"/>
            </a:solidFill>
            <a:prstDash val="solid"/>
          </a:ln>
        </p:spPr>
      </p:sp>
      <p:sp>
        <p:nvSpPr>
          <p:cNvPr id="47" name="a10_c_119"/>
          <p:cNvSpPr/>
          <p:nvPr/>
        </p:nvSpPr>
        <p:spPr>
          <a:xfrm>
            <a:off x="4407408" y="5404104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8" name="a10_c_12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17136" y="5513832"/>
            <a:ext cx="237744" cy="237744"/>
          </a:xfrm>
          <a:prstGeom prst="rect">
            <a:avLst/>
          </a:prstGeom>
        </p:spPr>
      </p:pic>
      <p:sp>
        <p:nvSpPr>
          <p:cNvPr id="49" name="a10_c_121"/>
          <p:cNvSpPr txBox="1"/>
          <p:nvPr/>
        </p:nvSpPr>
        <p:spPr>
          <a:xfrm>
            <a:off x="5001768" y="534924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Doctor in the loop</a:t>
            </a:r>
            <a:endParaRPr lang="en-US" sz="1400" dirty="0"/>
          </a:p>
        </p:txBody>
      </p:sp>
      <p:sp>
        <p:nvSpPr>
          <p:cNvPr id="50" name="a10_c_122"/>
          <p:cNvSpPr txBox="1"/>
          <p:nvPr/>
        </p:nvSpPr>
        <p:spPr>
          <a:xfrm>
            <a:off x="5001768" y="5641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Unclear and sensitive items locked for review</a:t>
            </a:r>
            <a:endParaRPr lang="en-US" sz="1100" dirty="0"/>
          </a:p>
        </p:txBody>
      </p:sp>
      <p:sp>
        <p:nvSpPr>
          <p:cNvPr id="51" name="a11_c_123"/>
          <p:cNvSpPr/>
          <p:nvPr/>
        </p:nvSpPr>
        <p:spPr>
          <a:xfrm>
            <a:off x="7991856" y="5276088"/>
            <a:ext cx="3538728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rgbClr val="C9E6DF"/>
            </a:solidFill>
            <a:prstDash val="solid"/>
          </a:ln>
        </p:spPr>
      </p:sp>
      <p:sp>
        <p:nvSpPr>
          <p:cNvPr id="52" name="a11_c_124"/>
          <p:cNvSpPr/>
          <p:nvPr/>
        </p:nvSpPr>
        <p:spPr>
          <a:xfrm>
            <a:off x="8129016" y="5404104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3" name="a11_c_12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38744" y="5513832"/>
            <a:ext cx="237744" cy="237744"/>
          </a:xfrm>
          <a:prstGeom prst="rect">
            <a:avLst/>
          </a:prstGeom>
        </p:spPr>
      </p:pic>
      <p:sp>
        <p:nvSpPr>
          <p:cNvPr id="54" name="a11_c_126"/>
          <p:cNvSpPr txBox="1"/>
          <p:nvPr/>
        </p:nvSpPr>
        <p:spPr>
          <a:xfrm>
            <a:off x="8723376" y="534924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Family &amp; fridge sheet</a:t>
            </a:r>
            <a:endParaRPr lang="en-US" sz="1400" dirty="0"/>
          </a:p>
        </p:txBody>
      </p:sp>
      <p:sp>
        <p:nvSpPr>
          <p:cNvPr id="55" name="a11_c_127"/>
          <p:cNvSpPr txBox="1"/>
          <p:nvPr/>
        </p:nvSpPr>
        <p:spPr>
          <a:xfrm>
            <a:off x="8723376" y="5641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Consent-based sharing, alerts, printable A4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65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" dur="450"/>
                                              <p:tgtEl>
                                                <p:spTgt spid="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" dur="450"/>
                                              <p:tgtEl>
                                                <p:spTgt spid="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" dur="450"/>
                                              <p:tgtEl>
                                                <p:spTgt spid="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4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" dur="450"/>
                                              <p:tgtEl>
                                                <p:spTgt spid="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9" dur="450"/>
                                              <p:tgtEl>
                                                <p:spTgt spid="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4" fill="hold">
                                  <p:stCondLst>
                                    <p:cond delay="380"/>
                                  </p:stCondLst>
                                  <p:childTnLst>
                                    <p:par>
                                      <p:cTn id="21" presetID="2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wipe(left)">
                                            <p:cBhvr>
                                              <p:cTn id="23" dur="450"/>
                                              <p:tgtEl>
                                                <p:spTgt spid="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7" fill="hold">
                                  <p:stCondLst>
                                    <p:cond delay="760"/>
                                  </p:stCondLst>
                                  <p:childTnLst>
                                    <p:par>
                                      <p:cTn id="25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7" dur="450"/>
                                              <p:tgtEl>
                                                <p:spTgt spid="1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0" dur="45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3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3" dur="45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34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6" dur="45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1" fill="hold">
                                  <p:stCondLst>
                                    <p:cond delay="1140"/>
                                  </p:stCondLst>
                                  <p:childTnLst>
                                    <p:par>
                                      <p:cTn id="38" presetID="2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wipe(left)">
                                            <p:cBhvr>
                                              <p:cTn id="40" dur="45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5" fill="hold">
                                  <p:stCondLst>
                                    <p:cond delay="1520"/>
                                  </p:stCondLst>
                                  <p:childTnLst>
                                    <p:par>
                                      <p:cTn id="4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4" dur="45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45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7" dur="45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4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0" dur="45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5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3" dur="45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54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6" dur="45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5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9" dur="45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60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2" dur="45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63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5" dur="450"/>
                                              <p:tgtEl>
                                                <p:spTgt spid="2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66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8" dur="45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69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1" dur="450"/>
                                              <p:tgtEl>
                                                <p:spTgt spid="2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7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4" dur="450"/>
                                              <p:tgtEl>
                                                <p:spTgt spid="2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1" fill="hold">
                                  <p:stCondLst>
                                    <p:cond delay="1900"/>
                                  </p:stCondLst>
                                  <p:childTnLst>
                                    <p:par>
                                      <p:cTn id="76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8" dur="450"/>
                                              <p:tgtEl>
                                                <p:spTgt spid="2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79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1" dur="450"/>
                                              <p:tgtEl>
                                                <p:spTgt spid="2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8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4" dur="450"/>
                                              <p:tgtEl>
                                                <p:spTgt spid="2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85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7" dur="450"/>
                                              <p:tgtEl>
                                                <p:spTgt spid="2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8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0" dur="450"/>
                                              <p:tgtEl>
                                                <p:spTgt spid="3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07" fill="hold">
                                  <p:stCondLst>
                                    <p:cond delay="2280"/>
                                  </p:stCondLst>
                                  <p:childTnLst>
                                    <p:par>
                                      <p:cTn id="9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4" dur="450"/>
                                              <p:tgtEl>
                                                <p:spTgt spid="3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95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7" dur="450"/>
                                              <p:tgtEl>
                                                <p:spTgt spid="3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9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0" dur="450"/>
                                              <p:tgtEl>
                                                <p:spTgt spid="3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0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3" dur="450"/>
                                              <p:tgtEl>
                                                <p:spTgt spid="3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04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6" dur="450"/>
                                              <p:tgtEl>
                                                <p:spTgt spid="3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23" fill="hold">
                                  <p:stCondLst>
                                    <p:cond delay="2660"/>
                                  </p:stCondLst>
                                  <p:childTnLst>
                                    <p:par>
                                      <p:cTn id="108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0" dur="450"/>
                                              <p:tgtEl>
                                                <p:spTgt spid="3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1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3" dur="450"/>
                                              <p:tgtEl>
                                                <p:spTgt spid="3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14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6" dur="450"/>
                                              <p:tgtEl>
                                                <p:spTgt spid="3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1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9" dur="450"/>
                                              <p:tgtEl>
                                                <p:spTgt spid="3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20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2" dur="450"/>
                                              <p:tgtEl>
                                                <p:spTgt spid="4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39" fill="hold">
                                  <p:stCondLst>
                                    <p:cond delay="3040"/>
                                  </p:stCondLst>
                                  <p:childTnLst>
                                    <p:par>
                                      <p:cTn id="124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6" dur="450"/>
                                              <p:tgtEl>
                                                <p:spTgt spid="4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2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9" dur="450"/>
                                              <p:tgtEl>
                                                <p:spTgt spid="4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30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2" dur="450"/>
                                              <p:tgtEl>
                                                <p:spTgt spid="4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33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5" dur="450"/>
                                              <p:tgtEl>
                                                <p:spTgt spid="4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36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8" dur="450"/>
                                              <p:tgtEl>
                                                <p:spTgt spid="4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55" fill="hold">
                                  <p:stCondLst>
                                    <p:cond delay="3420"/>
                                  </p:stCondLst>
                                  <p:childTnLst>
                                    <p:par>
                                      <p:cTn id="140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4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42" dur="450"/>
                                              <p:tgtEl>
                                                <p:spTgt spid="4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43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4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45" dur="450"/>
                                              <p:tgtEl>
                                                <p:spTgt spid="4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46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4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48" dur="450"/>
                                              <p:tgtEl>
                                                <p:spTgt spid="4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49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51" dur="450"/>
                                              <p:tgtEl>
                                                <p:spTgt spid="4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5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54" dur="450"/>
                                              <p:tgtEl>
                                                <p:spTgt spid="5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71" fill="hold">
                                  <p:stCondLst>
                                    <p:cond delay="3800"/>
                                  </p:stCondLst>
                                  <p:childTnLst>
                                    <p:par>
                                      <p:cTn id="156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58" dur="450"/>
                                              <p:tgtEl>
                                                <p:spTgt spid="5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59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6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1" dur="450"/>
                                              <p:tgtEl>
                                                <p:spTgt spid="5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6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6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4" dur="450"/>
                                              <p:tgtEl>
                                                <p:spTgt spid="5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65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6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7" dur="450"/>
                                              <p:tgtEl>
                                                <p:spTgt spid="5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6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6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70" dur="450"/>
                                              <p:tgtEl>
                                                <p:spTgt spid="5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  <p:bldP spid="36" grpId="0" animBg="1"/>
      <p:bldP spid="37" grpId="0" animBg="1"/>
      <p:bldP spid="39" grpId="0" animBg="1"/>
      <p:bldP spid="40" grpId="0" animBg="1"/>
      <p:bldP spid="41" grpId="0" animBg="1"/>
      <p:bldP spid="42" grpId="0" animBg="1"/>
      <p:bldP spid="44" grpId="0" animBg="1"/>
      <p:bldP spid="45" grpId="0" animBg="1"/>
      <p:bldP spid="46" grpId="0" animBg="1"/>
      <p:bldP spid="47" grpId="0" animBg="1"/>
      <p:bldP spid="49" grpId="0" animBg="1"/>
      <p:bldP spid="50" grpId="0" animBg="1"/>
      <p:bldP spid="51" grpId="0" animBg="1"/>
      <p:bldP spid="52" grpId="0" animBg="1"/>
      <p:bldP spid="54" grpId="0" animBg="1"/>
      <p:bldP spid="5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SOLUTION ARCHITECTURE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Three apps, one secure API, one agent pipeline</a:t>
            </a:r>
            <a:endParaRPr lang="en-US" sz="3200" dirty="0"/>
          </a:p>
        </p:txBody>
      </p:sp>
      <p:sp>
        <p:nvSpPr>
          <p:cNvPr id="4" name="a01_lab_128"/>
          <p:cNvSpPr txBox="1"/>
          <p:nvPr/>
        </p:nvSpPr>
        <p:spPr>
          <a:xfrm>
            <a:off x="548640" y="16687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EXPERIENCE</a:t>
            </a:r>
            <a:endParaRPr lang="en-US" sz="1200" dirty="0"/>
          </a:p>
        </p:txBody>
      </p:sp>
      <p:sp>
        <p:nvSpPr>
          <p:cNvPr id="5" name="a01_lab_129"/>
          <p:cNvSpPr txBox="1"/>
          <p:nvPr/>
        </p:nvSpPr>
        <p:spPr>
          <a:xfrm>
            <a:off x="548640" y="19431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React 18 · Vite · TypeScript</a:t>
            </a:r>
            <a:endParaRPr lang="en-US" sz="1050" dirty="0"/>
          </a:p>
        </p:txBody>
      </p:sp>
      <p:sp>
        <p:nvSpPr>
          <p:cNvPr id="6" name="a01_box_130"/>
          <p:cNvSpPr/>
          <p:nvPr/>
        </p:nvSpPr>
        <p:spPr>
          <a:xfrm>
            <a:off x="2286000" y="1463040"/>
            <a:ext cx="2965704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rgbClr val="C9E6DF"/>
            </a:solidFill>
            <a:prstDash val="solid"/>
          </a:ln>
        </p:spPr>
      </p:sp>
      <p:pic>
        <p:nvPicPr>
          <p:cNvPr id="7" name="a01_box_13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1751076"/>
            <a:ext cx="384048" cy="384048"/>
          </a:xfrm>
          <a:prstGeom prst="rect">
            <a:avLst/>
          </a:prstGeom>
        </p:spPr>
      </p:pic>
      <p:sp>
        <p:nvSpPr>
          <p:cNvPr id="8" name="a01_box_132"/>
          <p:cNvSpPr txBox="1"/>
          <p:nvPr/>
        </p:nvSpPr>
        <p:spPr>
          <a:xfrm>
            <a:off x="2971800" y="1591056"/>
            <a:ext cx="2188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&amp; family site</a:t>
            </a:r>
            <a:endParaRPr lang="en-US" sz="1550" dirty="0"/>
          </a:p>
        </p:txBody>
      </p:sp>
      <p:sp>
        <p:nvSpPr>
          <p:cNvPr id="9" name="a01_box_133"/>
          <p:cNvSpPr txBox="1"/>
          <p:nvPr/>
        </p:nvSpPr>
        <p:spPr>
          <a:xfrm>
            <a:off x="2971800" y="1938528"/>
            <a:ext cx="2188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Today view, plans, alerts  ·  /</a:t>
            </a:r>
            <a:endParaRPr lang="en-US" sz="1150" dirty="0"/>
          </a:p>
        </p:txBody>
      </p:sp>
      <p:sp>
        <p:nvSpPr>
          <p:cNvPr id="10" name="a01_box_134"/>
          <p:cNvSpPr/>
          <p:nvPr/>
        </p:nvSpPr>
        <p:spPr>
          <a:xfrm>
            <a:off x="5480304" y="1463040"/>
            <a:ext cx="2965704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rgbClr val="C9E6DF"/>
            </a:solidFill>
            <a:prstDash val="solid"/>
          </a:ln>
        </p:spPr>
      </p:sp>
      <p:pic>
        <p:nvPicPr>
          <p:cNvPr id="11" name="a01_box_13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184" y="1751076"/>
            <a:ext cx="384048" cy="384048"/>
          </a:xfrm>
          <a:prstGeom prst="rect">
            <a:avLst/>
          </a:prstGeom>
        </p:spPr>
      </p:pic>
      <p:sp>
        <p:nvSpPr>
          <p:cNvPr id="12" name="a01_box_136"/>
          <p:cNvSpPr txBox="1"/>
          <p:nvPr/>
        </p:nvSpPr>
        <p:spPr>
          <a:xfrm>
            <a:off x="6166104" y="1591056"/>
            <a:ext cx="2188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workspace</a:t>
            </a:r>
            <a:endParaRPr lang="en-US" sz="1550" dirty="0"/>
          </a:p>
        </p:txBody>
      </p:sp>
      <p:sp>
        <p:nvSpPr>
          <p:cNvPr id="13" name="a01_box_137"/>
          <p:cNvSpPr txBox="1"/>
          <p:nvPr/>
        </p:nvSpPr>
        <p:spPr>
          <a:xfrm>
            <a:off x="6166104" y="1938528"/>
            <a:ext cx="2188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Review queue, callbacks  ·  /doctor</a:t>
            </a:r>
            <a:endParaRPr lang="en-US" sz="1150" dirty="0"/>
          </a:p>
        </p:txBody>
      </p:sp>
      <p:sp>
        <p:nvSpPr>
          <p:cNvPr id="14" name="a01_box_138"/>
          <p:cNvSpPr/>
          <p:nvPr/>
        </p:nvSpPr>
        <p:spPr>
          <a:xfrm>
            <a:off x="8674608" y="1463040"/>
            <a:ext cx="2965704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rgbClr val="C9E6DF"/>
            </a:solidFill>
            <a:prstDash val="solid"/>
          </a:ln>
        </p:spPr>
      </p:sp>
      <p:pic>
        <p:nvPicPr>
          <p:cNvPr id="15" name="a01_box_13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7488" y="1751076"/>
            <a:ext cx="384048" cy="384048"/>
          </a:xfrm>
          <a:prstGeom prst="rect">
            <a:avLst/>
          </a:prstGeom>
        </p:spPr>
      </p:pic>
      <p:sp>
        <p:nvSpPr>
          <p:cNvPr id="16" name="a01_box_140"/>
          <p:cNvSpPr txBox="1"/>
          <p:nvPr/>
        </p:nvSpPr>
        <p:spPr>
          <a:xfrm>
            <a:off x="9360408" y="1591056"/>
            <a:ext cx="2188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console</a:t>
            </a:r>
            <a:endParaRPr lang="en-US" sz="1550" dirty="0"/>
          </a:p>
        </p:txBody>
      </p:sp>
      <p:sp>
        <p:nvSpPr>
          <p:cNvPr id="17" name="a01_box_141"/>
          <p:cNvSpPr txBox="1"/>
          <p:nvPr/>
        </p:nvSpPr>
        <p:spPr>
          <a:xfrm>
            <a:off x="9360408" y="1938528"/>
            <a:ext cx="2188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KPIs, routing, audit  ·  /management</a:t>
            </a:r>
            <a:endParaRPr lang="en-US" sz="1150" dirty="0"/>
          </a:p>
        </p:txBody>
      </p:sp>
      <p:sp>
        <p:nvSpPr>
          <p:cNvPr id="18" name="a02w_arrow_142"/>
          <p:cNvSpPr/>
          <p:nvPr/>
        </p:nvSpPr>
        <p:spPr>
          <a:xfrm>
            <a:off x="3840480" y="2450592"/>
            <a:ext cx="0" cy="265176"/>
          </a:xfrm>
          <a:prstGeom prst="line">
            <a:avLst/>
          </a:prstGeom>
          <a:noFill/>
          <a:ln w="28575">
            <a:solidFill>
              <a:srgbClr val="0E7C7B"/>
            </a:solidFill>
            <a:prstDash val="solid"/>
            <a:tailEnd type="triangle"/>
          </a:ln>
        </p:spPr>
      </p:sp>
      <p:sp>
        <p:nvSpPr>
          <p:cNvPr id="19" name="a02w_arrow_143"/>
          <p:cNvSpPr/>
          <p:nvPr/>
        </p:nvSpPr>
        <p:spPr>
          <a:xfrm>
            <a:off x="6949440" y="2450592"/>
            <a:ext cx="0" cy="265176"/>
          </a:xfrm>
          <a:prstGeom prst="line">
            <a:avLst/>
          </a:prstGeom>
          <a:noFill/>
          <a:ln w="28575">
            <a:solidFill>
              <a:srgbClr val="0E7C7B"/>
            </a:solidFill>
            <a:prstDash val="solid"/>
            <a:tailEnd type="triangle"/>
          </a:ln>
        </p:spPr>
      </p:sp>
      <p:sp>
        <p:nvSpPr>
          <p:cNvPr id="20" name="a02w_arrow_144"/>
          <p:cNvSpPr/>
          <p:nvPr/>
        </p:nvSpPr>
        <p:spPr>
          <a:xfrm>
            <a:off x="10058400" y="2450592"/>
            <a:ext cx="0" cy="265176"/>
          </a:xfrm>
          <a:prstGeom prst="line">
            <a:avLst/>
          </a:prstGeom>
          <a:noFill/>
          <a:ln w="28575">
            <a:solidFill>
              <a:srgbClr val="0E7C7B"/>
            </a:solidFill>
            <a:prstDash val="solid"/>
            <a:tailEnd type="triangle"/>
          </a:ln>
        </p:spPr>
      </p:sp>
      <p:sp>
        <p:nvSpPr>
          <p:cNvPr id="21" name="a03_lab_145"/>
          <p:cNvSpPr txBox="1"/>
          <p:nvPr/>
        </p:nvSpPr>
        <p:spPr>
          <a:xfrm>
            <a:off x="548640" y="28117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API</a:t>
            </a:r>
            <a:endParaRPr lang="en-US" sz="1200" dirty="0"/>
          </a:p>
        </p:txBody>
      </p:sp>
      <p:sp>
        <p:nvSpPr>
          <p:cNvPr id="22" name="a03_lab_146"/>
          <p:cNvSpPr txBox="1"/>
          <p:nvPr/>
        </p:nvSpPr>
        <p:spPr>
          <a:xfrm>
            <a:off x="548640" y="30861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FastAPI · JWT · SSE</a:t>
            </a:r>
            <a:endParaRPr lang="en-US" sz="1050" dirty="0"/>
          </a:p>
        </p:txBody>
      </p:sp>
      <p:sp>
        <p:nvSpPr>
          <p:cNvPr id="23" name="a03_box_147"/>
          <p:cNvSpPr/>
          <p:nvPr/>
        </p:nvSpPr>
        <p:spPr>
          <a:xfrm>
            <a:off x="2286000" y="2743200"/>
            <a:ext cx="9354312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a03_box_14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2894076"/>
            <a:ext cx="384048" cy="384048"/>
          </a:xfrm>
          <a:prstGeom prst="rect">
            <a:avLst/>
          </a:prstGeom>
        </p:spPr>
      </p:pic>
      <p:sp>
        <p:nvSpPr>
          <p:cNvPr id="25" name="a03_box_149"/>
          <p:cNvSpPr txBox="1"/>
          <p:nvPr/>
        </p:nvSpPr>
        <p:spPr>
          <a:xfrm>
            <a:off x="3017520" y="2743200"/>
            <a:ext cx="8439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backend   </a:t>
            </a:r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Role check on every route  ·  live progress over Server-Sent Events  ·  REST</a:t>
            </a:r>
            <a:endParaRPr lang="en-US" sz="1700" dirty="0"/>
          </a:p>
        </p:txBody>
      </p:sp>
      <p:sp>
        <p:nvSpPr>
          <p:cNvPr id="26" name="a04w_arrow_150"/>
          <p:cNvSpPr/>
          <p:nvPr/>
        </p:nvSpPr>
        <p:spPr>
          <a:xfrm>
            <a:off x="3840480" y="3456432"/>
            <a:ext cx="0" cy="265176"/>
          </a:xfrm>
          <a:prstGeom prst="line">
            <a:avLst/>
          </a:prstGeom>
          <a:noFill/>
          <a:ln w="28575">
            <a:solidFill>
              <a:srgbClr val="0E7C7B"/>
            </a:solidFill>
            <a:prstDash val="solid"/>
            <a:tailEnd type="triangle"/>
          </a:ln>
        </p:spPr>
      </p:sp>
      <p:sp>
        <p:nvSpPr>
          <p:cNvPr id="27" name="a04w_arrow_151"/>
          <p:cNvSpPr/>
          <p:nvPr/>
        </p:nvSpPr>
        <p:spPr>
          <a:xfrm>
            <a:off x="6949440" y="3456432"/>
            <a:ext cx="0" cy="265176"/>
          </a:xfrm>
          <a:prstGeom prst="line">
            <a:avLst/>
          </a:prstGeom>
          <a:noFill/>
          <a:ln w="28575">
            <a:solidFill>
              <a:srgbClr val="0E7C7B"/>
            </a:solidFill>
            <a:prstDash val="solid"/>
            <a:tailEnd type="triangle"/>
          </a:ln>
        </p:spPr>
      </p:sp>
      <p:sp>
        <p:nvSpPr>
          <p:cNvPr id="28" name="a04w_arrow_152"/>
          <p:cNvSpPr/>
          <p:nvPr/>
        </p:nvSpPr>
        <p:spPr>
          <a:xfrm>
            <a:off x="10058400" y="3456432"/>
            <a:ext cx="0" cy="265176"/>
          </a:xfrm>
          <a:prstGeom prst="line">
            <a:avLst/>
          </a:prstGeom>
          <a:noFill/>
          <a:ln w="28575">
            <a:solidFill>
              <a:srgbClr val="0E7C7B"/>
            </a:solidFill>
            <a:prstDash val="solid"/>
            <a:tailEnd type="triangle"/>
          </a:ln>
        </p:spPr>
      </p:sp>
      <p:sp>
        <p:nvSpPr>
          <p:cNvPr id="29" name="a05_lab_153"/>
          <p:cNvSpPr txBox="1"/>
          <p:nvPr/>
        </p:nvSpPr>
        <p:spPr>
          <a:xfrm>
            <a:off x="548640" y="39547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INTELLIGENCE</a:t>
            </a:r>
            <a:endParaRPr lang="en-US" sz="1200" dirty="0"/>
          </a:p>
        </p:txBody>
      </p:sp>
      <p:sp>
        <p:nvSpPr>
          <p:cNvPr id="30" name="a05_lab_154"/>
          <p:cNvSpPr txBox="1"/>
          <p:nvPr/>
        </p:nvSpPr>
        <p:spPr>
          <a:xfrm>
            <a:off x="548640" y="42291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Python agents</a:t>
            </a:r>
            <a:endParaRPr lang="en-US" sz="1050" dirty="0"/>
          </a:p>
        </p:txBody>
      </p:sp>
      <p:sp>
        <p:nvSpPr>
          <p:cNvPr id="31" name="a05_box_155"/>
          <p:cNvSpPr/>
          <p:nvPr/>
        </p:nvSpPr>
        <p:spPr>
          <a:xfrm>
            <a:off x="2286000" y="3749040"/>
            <a:ext cx="2965704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rgbClr val="C9E6DF"/>
            </a:solidFill>
            <a:prstDash val="solid"/>
          </a:ln>
        </p:spPr>
      </p:sp>
      <p:pic>
        <p:nvPicPr>
          <p:cNvPr id="32" name="a05_box_15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8880" y="4037076"/>
            <a:ext cx="384048" cy="384048"/>
          </a:xfrm>
          <a:prstGeom prst="rect">
            <a:avLst/>
          </a:prstGeom>
        </p:spPr>
      </p:pic>
      <p:sp>
        <p:nvSpPr>
          <p:cNvPr id="33" name="a05_box_157"/>
          <p:cNvSpPr txBox="1"/>
          <p:nvPr/>
        </p:nvSpPr>
        <p:spPr>
          <a:xfrm>
            <a:off x="2971800" y="3877056"/>
            <a:ext cx="2188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pipeline</a:t>
            </a:r>
            <a:endParaRPr lang="en-US" sz="1550" dirty="0"/>
          </a:p>
        </p:txBody>
      </p:sp>
      <p:sp>
        <p:nvSpPr>
          <p:cNvPr id="34" name="a05_box_158"/>
          <p:cNvSpPr txBox="1"/>
          <p:nvPr/>
        </p:nvSpPr>
        <p:spPr>
          <a:xfrm>
            <a:off x="2971800" y="4224528"/>
            <a:ext cx="2188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9 agents, from privacy guard to escalation</a:t>
            </a:r>
            <a:endParaRPr lang="en-US" sz="1150" dirty="0"/>
          </a:p>
        </p:txBody>
      </p:sp>
      <p:sp>
        <p:nvSpPr>
          <p:cNvPr id="35" name="a05_box_159"/>
          <p:cNvSpPr/>
          <p:nvPr/>
        </p:nvSpPr>
        <p:spPr>
          <a:xfrm>
            <a:off x="5480304" y="3749040"/>
            <a:ext cx="2965704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rgbClr val="C9E6DF"/>
            </a:solidFill>
            <a:prstDash val="solid"/>
          </a:ln>
        </p:spPr>
      </p:sp>
      <p:pic>
        <p:nvPicPr>
          <p:cNvPr id="36" name="a05_box_160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3184" y="4037076"/>
            <a:ext cx="384048" cy="384048"/>
          </a:xfrm>
          <a:prstGeom prst="rect">
            <a:avLst/>
          </a:prstGeom>
        </p:spPr>
      </p:pic>
      <p:sp>
        <p:nvSpPr>
          <p:cNvPr id="37" name="a05_box_161"/>
          <p:cNvSpPr txBox="1"/>
          <p:nvPr/>
        </p:nvSpPr>
        <p:spPr>
          <a:xfrm>
            <a:off x="6166104" y="3877056"/>
            <a:ext cx="2188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engine</a:t>
            </a:r>
            <a:endParaRPr lang="en-US" sz="1550" dirty="0"/>
          </a:p>
        </p:txBody>
      </p:sp>
      <p:sp>
        <p:nvSpPr>
          <p:cNvPr id="38" name="a05_box_162"/>
          <p:cNvSpPr txBox="1"/>
          <p:nvPr/>
        </p:nvSpPr>
        <p:spPr>
          <a:xfrm>
            <a:off x="6166104" y="4224528"/>
            <a:ext cx="2188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6 h reminder · 24 h family · 48 h doctor</a:t>
            </a:r>
            <a:endParaRPr lang="en-US" sz="1150" dirty="0"/>
          </a:p>
        </p:txBody>
      </p:sp>
      <p:sp>
        <p:nvSpPr>
          <p:cNvPr id="39" name="a05_box_163"/>
          <p:cNvSpPr/>
          <p:nvPr/>
        </p:nvSpPr>
        <p:spPr>
          <a:xfrm>
            <a:off x="8674608" y="3749040"/>
            <a:ext cx="2965704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rgbClr val="C9E6DF"/>
            </a:solidFill>
            <a:prstDash val="solid"/>
          </a:ln>
        </p:spPr>
      </p:sp>
      <p:pic>
        <p:nvPicPr>
          <p:cNvPr id="40" name="a05_box_16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7488" y="4037076"/>
            <a:ext cx="384048" cy="384048"/>
          </a:xfrm>
          <a:prstGeom prst="rect">
            <a:avLst/>
          </a:prstGeom>
        </p:spPr>
      </p:pic>
      <p:sp>
        <p:nvSpPr>
          <p:cNvPr id="41" name="a05_box_165"/>
          <p:cNvSpPr txBox="1"/>
          <p:nvPr/>
        </p:nvSpPr>
        <p:spPr>
          <a:xfrm>
            <a:off x="9360408" y="3877056"/>
            <a:ext cx="2188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&amp; notifications</a:t>
            </a:r>
            <a:endParaRPr lang="en-US" sz="1550" dirty="0"/>
          </a:p>
        </p:txBody>
      </p:sp>
      <p:sp>
        <p:nvSpPr>
          <p:cNvPr id="42" name="a05_box_166"/>
          <p:cNvSpPr txBox="1"/>
          <p:nvPr/>
        </p:nvSpPr>
        <p:spPr>
          <a:xfrm>
            <a:off x="9360408" y="4224528"/>
            <a:ext cx="2188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Best-fit doctor + backup when away</a:t>
            </a:r>
            <a:endParaRPr lang="en-US" sz="1150" dirty="0"/>
          </a:p>
        </p:txBody>
      </p:sp>
      <p:sp>
        <p:nvSpPr>
          <p:cNvPr id="43" name="a06w_arrow_167"/>
          <p:cNvSpPr/>
          <p:nvPr/>
        </p:nvSpPr>
        <p:spPr>
          <a:xfrm>
            <a:off x="3840480" y="4736592"/>
            <a:ext cx="0" cy="265176"/>
          </a:xfrm>
          <a:prstGeom prst="line">
            <a:avLst/>
          </a:prstGeom>
          <a:noFill/>
          <a:ln w="28575">
            <a:solidFill>
              <a:srgbClr val="0E7C7B"/>
            </a:solidFill>
            <a:prstDash val="solid"/>
            <a:tailEnd type="triangle"/>
          </a:ln>
        </p:spPr>
      </p:sp>
      <p:sp>
        <p:nvSpPr>
          <p:cNvPr id="44" name="a06w_arrow_168"/>
          <p:cNvSpPr/>
          <p:nvPr/>
        </p:nvSpPr>
        <p:spPr>
          <a:xfrm>
            <a:off x="6949440" y="4736592"/>
            <a:ext cx="0" cy="265176"/>
          </a:xfrm>
          <a:prstGeom prst="line">
            <a:avLst/>
          </a:prstGeom>
          <a:noFill/>
          <a:ln w="28575">
            <a:solidFill>
              <a:srgbClr val="0E7C7B"/>
            </a:solidFill>
            <a:prstDash val="solid"/>
            <a:tailEnd type="triangle"/>
          </a:ln>
        </p:spPr>
      </p:sp>
      <p:sp>
        <p:nvSpPr>
          <p:cNvPr id="45" name="a06w_arrow_169"/>
          <p:cNvSpPr/>
          <p:nvPr/>
        </p:nvSpPr>
        <p:spPr>
          <a:xfrm>
            <a:off x="10058400" y="4736592"/>
            <a:ext cx="0" cy="265176"/>
          </a:xfrm>
          <a:prstGeom prst="line">
            <a:avLst/>
          </a:prstGeom>
          <a:noFill/>
          <a:ln w="28575">
            <a:solidFill>
              <a:srgbClr val="0E7C7B"/>
            </a:solidFill>
            <a:prstDash val="solid"/>
            <a:tailEnd type="triangle"/>
          </a:ln>
        </p:spPr>
      </p:sp>
      <p:sp>
        <p:nvSpPr>
          <p:cNvPr id="46" name="a07_lab_170"/>
          <p:cNvSpPr txBox="1"/>
          <p:nvPr/>
        </p:nvSpPr>
        <p:spPr>
          <a:xfrm>
            <a:off x="548640" y="52349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DATA &amp; SERVICES</a:t>
            </a:r>
            <a:endParaRPr lang="en-US" sz="1200" dirty="0"/>
          </a:p>
        </p:txBody>
      </p:sp>
      <p:sp>
        <p:nvSpPr>
          <p:cNvPr id="47" name="a07_lab_171"/>
          <p:cNvSpPr txBox="1"/>
          <p:nvPr/>
        </p:nvSpPr>
        <p:spPr>
          <a:xfrm>
            <a:off x="548640" y="55092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Storage and models</a:t>
            </a:r>
            <a:endParaRPr lang="en-US" sz="1050" dirty="0"/>
          </a:p>
        </p:txBody>
      </p:sp>
      <p:sp>
        <p:nvSpPr>
          <p:cNvPr id="48" name="a07_box_172"/>
          <p:cNvSpPr/>
          <p:nvPr/>
        </p:nvSpPr>
        <p:spPr>
          <a:xfrm>
            <a:off x="2286000" y="5029200"/>
            <a:ext cx="2167128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rgbClr val="C9E6DF"/>
            </a:solidFill>
            <a:prstDash val="solid"/>
          </a:ln>
        </p:spPr>
      </p:sp>
      <p:pic>
        <p:nvPicPr>
          <p:cNvPr id="49" name="a07_box_17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68880" y="5317236"/>
            <a:ext cx="384048" cy="384048"/>
          </a:xfrm>
          <a:prstGeom prst="rect">
            <a:avLst/>
          </a:prstGeom>
        </p:spPr>
      </p:pic>
      <p:sp>
        <p:nvSpPr>
          <p:cNvPr id="50" name="a07_box_174"/>
          <p:cNvSpPr txBox="1"/>
          <p:nvPr/>
        </p:nvSpPr>
        <p:spPr>
          <a:xfrm>
            <a:off x="2971800" y="5157216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550" dirty="0"/>
          </a:p>
        </p:txBody>
      </p:sp>
      <p:sp>
        <p:nvSpPr>
          <p:cNvPr id="51" name="a07_box_175"/>
          <p:cNvSpPr txBox="1"/>
          <p:nvPr/>
        </p:nvSpPr>
        <p:spPr>
          <a:xfrm>
            <a:off x="2971800" y="550468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20 tables + full audit log</a:t>
            </a:r>
            <a:endParaRPr lang="en-US" sz="1150" dirty="0"/>
          </a:p>
        </p:txBody>
      </p:sp>
      <p:sp>
        <p:nvSpPr>
          <p:cNvPr id="52" name="a07_box_176"/>
          <p:cNvSpPr/>
          <p:nvPr/>
        </p:nvSpPr>
        <p:spPr>
          <a:xfrm>
            <a:off x="4681728" y="5029200"/>
            <a:ext cx="2167128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rgbClr val="C9E6DF"/>
            </a:solidFill>
            <a:prstDash val="solid"/>
          </a:ln>
        </p:spPr>
      </p:sp>
      <p:pic>
        <p:nvPicPr>
          <p:cNvPr id="53" name="a07_box_17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4608" y="5317236"/>
            <a:ext cx="384048" cy="384048"/>
          </a:xfrm>
          <a:prstGeom prst="rect">
            <a:avLst/>
          </a:prstGeom>
        </p:spPr>
      </p:pic>
      <p:sp>
        <p:nvSpPr>
          <p:cNvPr id="54" name="a07_box_178"/>
          <p:cNvSpPr txBox="1"/>
          <p:nvPr/>
        </p:nvSpPr>
        <p:spPr>
          <a:xfrm>
            <a:off x="5367528" y="5157216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LLM</a:t>
            </a:r>
            <a:endParaRPr lang="en-US" sz="1550" dirty="0"/>
          </a:p>
        </p:txBody>
      </p:sp>
      <p:sp>
        <p:nvSpPr>
          <p:cNvPr id="55" name="a07_box_179"/>
          <p:cNvSpPr txBox="1"/>
          <p:nvPr/>
        </p:nvSpPr>
        <p:spPr>
          <a:xfrm>
            <a:off x="5367528" y="550468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gpt-oss-120b / 20b, JSON mode</a:t>
            </a:r>
            <a:endParaRPr lang="en-US" sz="1150" dirty="0"/>
          </a:p>
        </p:txBody>
      </p:sp>
      <p:sp>
        <p:nvSpPr>
          <p:cNvPr id="56" name="a07_box_180"/>
          <p:cNvSpPr/>
          <p:nvPr/>
        </p:nvSpPr>
        <p:spPr>
          <a:xfrm>
            <a:off x="7077456" y="5029200"/>
            <a:ext cx="2167128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rgbClr val="C9E6DF"/>
            </a:solidFill>
            <a:prstDash val="solid"/>
          </a:ln>
        </p:spPr>
      </p:sp>
      <p:pic>
        <p:nvPicPr>
          <p:cNvPr id="57" name="a07_box_181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60336" y="5317236"/>
            <a:ext cx="384048" cy="384048"/>
          </a:xfrm>
          <a:prstGeom prst="rect">
            <a:avLst/>
          </a:prstGeom>
        </p:spPr>
      </p:pic>
      <p:sp>
        <p:nvSpPr>
          <p:cNvPr id="58" name="a07_box_182"/>
          <p:cNvSpPr txBox="1"/>
          <p:nvPr/>
        </p:nvSpPr>
        <p:spPr>
          <a:xfrm>
            <a:off x="7763256" y="5157216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voice</a:t>
            </a:r>
            <a:endParaRPr lang="en-US" sz="1550" dirty="0"/>
          </a:p>
        </p:txBody>
      </p:sp>
      <p:sp>
        <p:nvSpPr>
          <p:cNvPr id="59" name="a07_box_183"/>
          <p:cNvSpPr txBox="1"/>
          <p:nvPr/>
        </p:nvSpPr>
        <p:spPr>
          <a:xfrm>
            <a:off x="7763256" y="550468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Read-aloud in 6 languages</a:t>
            </a:r>
            <a:endParaRPr lang="en-US" sz="1150" dirty="0"/>
          </a:p>
        </p:txBody>
      </p:sp>
      <p:sp>
        <p:nvSpPr>
          <p:cNvPr id="60" name="a07_box_184"/>
          <p:cNvSpPr/>
          <p:nvPr/>
        </p:nvSpPr>
        <p:spPr>
          <a:xfrm>
            <a:off x="9473184" y="5029200"/>
            <a:ext cx="2167128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rgbClr val="C9E6DF"/>
            </a:solidFill>
            <a:prstDash val="solid"/>
          </a:ln>
        </p:spPr>
      </p:sp>
      <p:pic>
        <p:nvPicPr>
          <p:cNvPr id="61" name="a07_box_18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56064" y="5317236"/>
            <a:ext cx="384048" cy="384048"/>
          </a:xfrm>
          <a:prstGeom prst="rect">
            <a:avLst/>
          </a:prstGeom>
        </p:spPr>
      </p:pic>
      <p:sp>
        <p:nvSpPr>
          <p:cNvPr id="62" name="a07_box_186"/>
          <p:cNvSpPr txBox="1"/>
          <p:nvPr/>
        </p:nvSpPr>
        <p:spPr>
          <a:xfrm>
            <a:off x="10158984" y="5157216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data</a:t>
            </a:r>
            <a:endParaRPr lang="en-US" sz="1550" dirty="0"/>
          </a:p>
        </p:txBody>
      </p:sp>
      <p:sp>
        <p:nvSpPr>
          <p:cNvPr id="63" name="a07_box_187"/>
          <p:cNvSpPr txBox="1"/>
          <p:nvPr/>
        </p:nvSpPr>
        <p:spPr>
          <a:xfrm>
            <a:off x="10158984" y="550468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60 synthetic providers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65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47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" dur="450"/>
                                              <p:tgtEl>
                                                <p:spTgt spid="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" dur="450"/>
                                              <p:tgtEl>
                                                <p:spTgt spid="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" dur="450"/>
                                              <p:tgtEl>
                                                <p:spTgt spid="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4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" dur="450"/>
                                              <p:tgtEl>
                                                <p:spTgt spid="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9" dur="450"/>
                                              <p:tgtEl>
                                                <p:spTgt spid="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0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2" dur="450"/>
                                              <p:tgtEl>
                                                <p:spTgt spid="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3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5" dur="450"/>
                                              <p:tgtEl>
                                                <p:spTgt spid="1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6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8" dur="45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9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1" dur="45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3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4" dur="45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35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7" dur="45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3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0" dur="45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4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3" dur="45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44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6" dur="45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7" fill="hold">
                                  <p:stCondLst>
                                    <p:cond delay="380"/>
                                  </p:stCondLst>
                                  <p:childTnLst>
                                    <p:par>
                                      <p:cTn id="48" presetID="2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wipe(left)">
                                            <p:cBhvr>
                                              <p:cTn id="50" dur="45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51" presetID="22" presetClass="entr" presetSubtype="8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wipe(left)">
                                            <p:cBhvr>
                                              <p:cTn id="53" dur="45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54" presetID="22" presetClass="entr" presetSubtype="8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wipe(left)">
                                            <p:cBhvr>
                                              <p:cTn id="56" dur="45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3" fill="hold">
                                  <p:stCondLst>
                                    <p:cond delay="760"/>
                                  </p:stCondLst>
                                  <p:childTnLst>
                                    <p:par>
                                      <p:cTn id="58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0" dur="45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6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3" dur="450"/>
                                              <p:tgtEl>
                                                <p:spTgt spid="2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64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6" dur="45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6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9" dur="450"/>
                                              <p:tgtEl>
                                                <p:spTgt spid="2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70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2" dur="450"/>
                                              <p:tgtEl>
                                                <p:spTgt spid="2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3" fill="hold">
                                  <p:stCondLst>
                                    <p:cond delay="1140"/>
                                  </p:stCondLst>
                                  <p:childTnLst>
                                    <p:par>
                                      <p:cTn id="74" presetID="2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wipe(left)">
                                            <p:cBhvr>
                                              <p:cTn id="76" dur="450"/>
                                              <p:tgtEl>
                                                <p:spTgt spid="2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77" presetID="22" presetClass="entr" presetSubtype="8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wipe(left)">
                                            <p:cBhvr>
                                              <p:cTn id="79" dur="450"/>
                                              <p:tgtEl>
                                                <p:spTgt spid="2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80" presetID="22" presetClass="entr" presetSubtype="8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wipe(left)">
                                            <p:cBhvr>
                                              <p:cTn id="82" dur="450"/>
                                              <p:tgtEl>
                                                <p:spTgt spid="2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26" fill="hold">
                                  <p:stCondLst>
                                    <p:cond delay="1520"/>
                                  </p:stCondLst>
                                  <p:childTnLst>
                                    <p:par>
                                      <p:cTn id="84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6" dur="450"/>
                                              <p:tgtEl>
                                                <p:spTgt spid="2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8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9" dur="450"/>
                                              <p:tgtEl>
                                                <p:spTgt spid="3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90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2" dur="450"/>
                                              <p:tgtEl>
                                                <p:spTgt spid="3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93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5" dur="450"/>
                                              <p:tgtEl>
                                                <p:spTgt spid="3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96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8" dur="450"/>
                                              <p:tgtEl>
                                                <p:spTgt spid="3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99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1" dur="450"/>
                                              <p:tgtEl>
                                                <p:spTgt spid="3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0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4" dur="450"/>
                                              <p:tgtEl>
                                                <p:spTgt spid="3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05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7" dur="450"/>
                                              <p:tgtEl>
                                                <p:spTgt spid="3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0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0" dur="450"/>
                                              <p:tgtEl>
                                                <p:spTgt spid="3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1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3" dur="450"/>
                                              <p:tgtEl>
                                                <p:spTgt spid="3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14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6" dur="450"/>
                                              <p:tgtEl>
                                                <p:spTgt spid="3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1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9" dur="450"/>
                                              <p:tgtEl>
                                                <p:spTgt spid="4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20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2" dur="450"/>
                                              <p:tgtEl>
                                                <p:spTgt spid="4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23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5" dur="450"/>
                                              <p:tgtEl>
                                                <p:spTgt spid="4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36" fill="hold">
                                  <p:stCondLst>
                                    <p:cond delay="1900"/>
                                  </p:stCondLst>
                                  <p:childTnLst>
                                    <p:par>
                                      <p:cTn id="127" presetID="2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wipe(left)">
                                            <p:cBhvr>
                                              <p:cTn id="129" dur="450"/>
                                              <p:tgtEl>
                                                <p:spTgt spid="4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30" presetID="22" presetClass="entr" presetSubtype="8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wipe(left)">
                                            <p:cBhvr>
                                              <p:cTn id="132" dur="450"/>
                                              <p:tgtEl>
                                                <p:spTgt spid="4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33" presetID="22" presetClass="entr" presetSubtype="8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wipe(left)">
                                            <p:cBhvr>
                                              <p:cTn id="135" dur="450"/>
                                              <p:tgtEl>
                                                <p:spTgt spid="4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91" fill="hold">
                                  <p:stCondLst>
                                    <p:cond delay="2280"/>
                                  </p:stCondLst>
                                  <p:childTnLst>
                                    <p:par>
                                      <p:cTn id="137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9" dur="450"/>
                                              <p:tgtEl>
                                                <p:spTgt spid="4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40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4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42" dur="450"/>
                                              <p:tgtEl>
                                                <p:spTgt spid="4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43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4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45" dur="450"/>
                                              <p:tgtEl>
                                                <p:spTgt spid="4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46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4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48" dur="450"/>
                                              <p:tgtEl>
                                                <p:spTgt spid="4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49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51" dur="450"/>
                                              <p:tgtEl>
                                                <p:spTgt spid="5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5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54" dur="450"/>
                                              <p:tgtEl>
                                                <p:spTgt spid="5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55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57" dur="450"/>
                                              <p:tgtEl>
                                                <p:spTgt spid="5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5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0" dur="450"/>
                                              <p:tgtEl>
                                                <p:spTgt spid="5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6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6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3" dur="450"/>
                                              <p:tgtEl>
                                                <p:spTgt spid="5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64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6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6" dur="450"/>
                                              <p:tgtEl>
                                                <p:spTgt spid="5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6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6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9" dur="450"/>
                                              <p:tgtEl>
                                                <p:spTgt spid="5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70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72" dur="450"/>
                                              <p:tgtEl>
                                                <p:spTgt spid="5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73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75" dur="450"/>
                                              <p:tgtEl>
                                                <p:spTgt spid="5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76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78" dur="450"/>
                                              <p:tgtEl>
                                                <p:spTgt spid="5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79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81" dur="450"/>
                                              <p:tgtEl>
                                                <p:spTgt spid="6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8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84" dur="450"/>
                                              <p:tgtEl>
                                                <p:spTgt spid="6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85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87" dur="450"/>
                                              <p:tgtEl>
                                                <p:spTgt spid="6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8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90" dur="450"/>
                                              <p:tgtEl>
                                                <p:spTgt spid="6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3" grpId="0" animBg="1"/>
      <p:bldP spid="34" grpId="0" animBg="1"/>
      <p:bldP spid="35" grpId="0" animBg="1"/>
      <p:bldP spid="37" grpId="0" animBg="1"/>
      <p:bldP spid="38" grpId="0" animBg="1"/>
      <p:bldP spid="39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50" grpId="0" animBg="1"/>
      <p:bldP spid="51" grpId="0" animBg="1"/>
      <p:bldP spid="52" grpId="0" animBg="1"/>
      <p:bldP spid="54" grpId="0" animBg="1"/>
      <p:bldP spid="55" grpId="0" animBg="1"/>
      <p:bldP spid="56" grpId="0" animBg="1"/>
      <p:bldP spid="58" grpId="0" animBg="1"/>
      <p:bldP spid="59" grpId="0" animBg="1"/>
      <p:bldP spid="60" grpId="0" animBg="1"/>
      <p:bldP spid="62" grpId="0" animBg="1"/>
      <p:bldP spid="6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AGENT ARCHITECTURE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Nine agents, one job each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503920" y="7132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Rules in 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875520" y="713232"/>
            <a:ext cx="640080" cy="27432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rgbClr val="5ED6C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75520" y="7132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CODE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652760" y="713232"/>
            <a:ext cx="54864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rgbClr val="8DC6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652760" y="7132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LLM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7132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Groq</a:t>
            </a:r>
            <a:endParaRPr lang="en-US" sz="1100" dirty="0"/>
          </a:p>
        </p:txBody>
      </p:sp>
      <p:sp>
        <p:nvSpPr>
          <p:cNvPr id="10" name="a01_node_188"/>
          <p:cNvSpPr/>
          <p:nvPr/>
        </p:nvSpPr>
        <p:spPr>
          <a:xfrm>
            <a:off x="548640" y="1554480"/>
            <a:ext cx="1783080" cy="1874520"/>
          </a:xfrm>
          <a:prstGeom prst="roundRect">
            <a:avLst>
              <a:gd name="adj" fmla="val 6154"/>
            </a:avLst>
          </a:prstGeom>
          <a:solidFill>
            <a:schemeClr val="accent6"/>
          </a:solidFill>
          <a:ln w="12700">
            <a:solidFill>
              <a:srgbClr val="1F5A55"/>
            </a:solidFill>
            <a:prstDash val="solid"/>
          </a:ln>
        </p:spPr>
      </p:sp>
      <p:sp>
        <p:nvSpPr>
          <p:cNvPr id="11" name="a01_node_189"/>
          <p:cNvSpPr/>
          <p:nvPr/>
        </p:nvSpPr>
        <p:spPr>
          <a:xfrm>
            <a:off x="713232" y="171907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a01_node_19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847088"/>
            <a:ext cx="310896" cy="310896"/>
          </a:xfrm>
          <a:prstGeom prst="rect">
            <a:avLst/>
          </a:prstGeom>
        </p:spPr>
      </p:pic>
      <p:sp>
        <p:nvSpPr>
          <p:cNvPr id="13" name="a01_node_191"/>
          <p:cNvSpPr txBox="1"/>
          <p:nvPr/>
        </p:nvSpPr>
        <p:spPr>
          <a:xfrm>
            <a:off x="1600200" y="171907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4" name="a01_node_192"/>
          <p:cNvSpPr txBox="1"/>
          <p:nvPr/>
        </p:nvSpPr>
        <p:spPr>
          <a:xfrm>
            <a:off x="713232" y="232257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guard</a:t>
            </a:r>
            <a:endParaRPr lang="en-US" sz="1500" dirty="0"/>
          </a:p>
        </p:txBody>
      </p:sp>
      <p:sp>
        <p:nvSpPr>
          <p:cNvPr id="15" name="a01_node_193"/>
          <p:cNvSpPr txBox="1"/>
          <p:nvPr/>
        </p:nvSpPr>
        <p:spPr>
          <a:xfrm>
            <a:off x="713232" y="26334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E6DF"/>
                </a:solidFill>
              </a:rPr>
              <a:t>Masks Aadhaar, PAN, phone, email</a:t>
            </a:r>
            <a:endParaRPr lang="en-US" sz="1100" dirty="0"/>
          </a:p>
        </p:txBody>
      </p:sp>
      <p:sp>
        <p:nvSpPr>
          <p:cNvPr id="16" name="a01_node_194"/>
          <p:cNvSpPr/>
          <p:nvPr/>
        </p:nvSpPr>
        <p:spPr>
          <a:xfrm>
            <a:off x="713232" y="3127248"/>
            <a:ext cx="585216" cy="2194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rgbClr val="5ED6C3"/>
            </a:solidFill>
            <a:prstDash val="solid"/>
          </a:ln>
        </p:spPr>
      </p:sp>
      <p:sp>
        <p:nvSpPr>
          <p:cNvPr id="17" name="a01_node_195"/>
          <p:cNvSpPr txBox="1"/>
          <p:nvPr/>
        </p:nvSpPr>
        <p:spPr>
          <a:xfrm>
            <a:off x="713232" y="3127248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CODE</a:t>
            </a:r>
            <a:endParaRPr lang="en-US" sz="900" dirty="0"/>
          </a:p>
        </p:txBody>
      </p:sp>
      <p:sp>
        <p:nvSpPr>
          <p:cNvPr id="18" name="a02w_arrow_196"/>
          <p:cNvSpPr/>
          <p:nvPr/>
        </p:nvSpPr>
        <p:spPr>
          <a:xfrm>
            <a:off x="2368296" y="2491740"/>
            <a:ext cx="310896" cy="0"/>
          </a:xfrm>
          <a:prstGeom prst="line">
            <a:avLst/>
          </a:prstGeom>
          <a:noFill/>
          <a:ln w="28575">
            <a:solidFill>
              <a:srgbClr val="5ED6C3"/>
            </a:solidFill>
            <a:prstDash val="solid"/>
            <a:tailEnd type="triangle"/>
          </a:ln>
        </p:spPr>
      </p:sp>
      <p:sp>
        <p:nvSpPr>
          <p:cNvPr id="19" name="a03_node_197"/>
          <p:cNvSpPr/>
          <p:nvPr/>
        </p:nvSpPr>
        <p:spPr>
          <a:xfrm>
            <a:off x="2715768" y="1554480"/>
            <a:ext cx="1783080" cy="1874520"/>
          </a:xfrm>
          <a:prstGeom prst="roundRect">
            <a:avLst>
              <a:gd name="adj" fmla="val 6154"/>
            </a:avLst>
          </a:prstGeom>
          <a:solidFill>
            <a:schemeClr val="accent6"/>
          </a:solidFill>
          <a:ln w="12700">
            <a:solidFill>
              <a:srgbClr val="1F5A55"/>
            </a:solidFill>
            <a:prstDash val="solid"/>
          </a:ln>
        </p:spPr>
      </p:sp>
      <p:sp>
        <p:nvSpPr>
          <p:cNvPr id="20" name="a03_node_198"/>
          <p:cNvSpPr/>
          <p:nvPr/>
        </p:nvSpPr>
        <p:spPr>
          <a:xfrm>
            <a:off x="2880360" y="171907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a03_node_19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376" y="1847088"/>
            <a:ext cx="310896" cy="310896"/>
          </a:xfrm>
          <a:prstGeom prst="rect">
            <a:avLst/>
          </a:prstGeom>
        </p:spPr>
      </p:pic>
      <p:sp>
        <p:nvSpPr>
          <p:cNvPr id="22" name="a03_node_200"/>
          <p:cNvSpPr txBox="1"/>
          <p:nvPr/>
        </p:nvSpPr>
        <p:spPr>
          <a:xfrm>
            <a:off x="3767328" y="171907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23" name="a03_node_201"/>
          <p:cNvSpPr txBox="1"/>
          <p:nvPr/>
        </p:nvSpPr>
        <p:spPr>
          <a:xfrm>
            <a:off x="2880360" y="232257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1500" dirty="0"/>
          </a:p>
        </p:txBody>
      </p:sp>
      <p:sp>
        <p:nvSpPr>
          <p:cNvPr id="24" name="a03_node_202"/>
          <p:cNvSpPr txBox="1"/>
          <p:nvPr/>
        </p:nvSpPr>
        <p:spPr>
          <a:xfrm>
            <a:off x="2880360" y="26334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E6DF"/>
                </a:solidFill>
              </a:rPr>
              <a:t>Text or PDF into numbered lines</a:t>
            </a:r>
            <a:endParaRPr lang="en-US" sz="1100" dirty="0"/>
          </a:p>
        </p:txBody>
      </p:sp>
      <p:sp>
        <p:nvSpPr>
          <p:cNvPr id="25" name="a03_node_203"/>
          <p:cNvSpPr/>
          <p:nvPr/>
        </p:nvSpPr>
        <p:spPr>
          <a:xfrm>
            <a:off x="2880360" y="3127248"/>
            <a:ext cx="585216" cy="2194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rgbClr val="5ED6C3"/>
            </a:solidFill>
            <a:prstDash val="solid"/>
          </a:ln>
        </p:spPr>
      </p:sp>
      <p:sp>
        <p:nvSpPr>
          <p:cNvPr id="26" name="a03_node_204"/>
          <p:cNvSpPr txBox="1"/>
          <p:nvPr/>
        </p:nvSpPr>
        <p:spPr>
          <a:xfrm>
            <a:off x="2880360" y="3127248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CODE</a:t>
            </a:r>
            <a:endParaRPr lang="en-US" sz="900" dirty="0"/>
          </a:p>
        </p:txBody>
      </p:sp>
      <p:sp>
        <p:nvSpPr>
          <p:cNvPr id="27" name="a04w_arrow_205"/>
          <p:cNvSpPr/>
          <p:nvPr/>
        </p:nvSpPr>
        <p:spPr>
          <a:xfrm>
            <a:off x="4535424" y="2491740"/>
            <a:ext cx="310896" cy="0"/>
          </a:xfrm>
          <a:prstGeom prst="line">
            <a:avLst/>
          </a:prstGeom>
          <a:noFill/>
          <a:ln w="28575">
            <a:solidFill>
              <a:srgbClr val="5ED6C3"/>
            </a:solidFill>
            <a:prstDash val="solid"/>
            <a:tailEnd type="triangle"/>
          </a:ln>
        </p:spPr>
      </p:sp>
      <p:sp>
        <p:nvSpPr>
          <p:cNvPr id="28" name="a05_node_206"/>
          <p:cNvSpPr/>
          <p:nvPr/>
        </p:nvSpPr>
        <p:spPr>
          <a:xfrm>
            <a:off x="4882896" y="1554480"/>
            <a:ext cx="1783080" cy="1874520"/>
          </a:xfrm>
          <a:prstGeom prst="roundRect">
            <a:avLst>
              <a:gd name="adj" fmla="val 6154"/>
            </a:avLst>
          </a:prstGeom>
          <a:solidFill>
            <a:schemeClr val="accent6"/>
          </a:solidFill>
          <a:ln w="12700">
            <a:solidFill>
              <a:srgbClr val="1F5A55"/>
            </a:solidFill>
            <a:prstDash val="solid"/>
          </a:ln>
        </p:spPr>
      </p:sp>
      <p:sp>
        <p:nvSpPr>
          <p:cNvPr id="29" name="a05_node_207"/>
          <p:cNvSpPr/>
          <p:nvPr/>
        </p:nvSpPr>
        <p:spPr>
          <a:xfrm>
            <a:off x="5047488" y="171907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a05_node_20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504" y="1847088"/>
            <a:ext cx="310896" cy="310896"/>
          </a:xfrm>
          <a:prstGeom prst="rect">
            <a:avLst/>
          </a:prstGeom>
        </p:spPr>
      </p:pic>
      <p:sp>
        <p:nvSpPr>
          <p:cNvPr id="31" name="a05_node_209"/>
          <p:cNvSpPr txBox="1"/>
          <p:nvPr/>
        </p:nvSpPr>
        <p:spPr>
          <a:xfrm>
            <a:off x="5934456" y="171907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32" name="a05_node_210"/>
          <p:cNvSpPr txBox="1"/>
          <p:nvPr/>
        </p:nvSpPr>
        <p:spPr>
          <a:xfrm>
            <a:off x="5047488" y="232257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Extractor</a:t>
            </a:r>
            <a:endParaRPr lang="en-US" sz="1500" dirty="0"/>
          </a:p>
        </p:txBody>
      </p:sp>
      <p:sp>
        <p:nvSpPr>
          <p:cNvPr id="33" name="a05_node_211"/>
          <p:cNvSpPr txBox="1"/>
          <p:nvPr/>
        </p:nvSpPr>
        <p:spPr>
          <a:xfrm>
            <a:off x="5047488" y="26334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E6DF"/>
                </a:solidFill>
              </a:rPr>
              <a:t>Finds meds, visits, tests, warnings</a:t>
            </a:r>
            <a:endParaRPr lang="en-US" sz="1100" dirty="0"/>
          </a:p>
        </p:txBody>
      </p:sp>
      <p:sp>
        <p:nvSpPr>
          <p:cNvPr id="34" name="a05_node_212"/>
          <p:cNvSpPr/>
          <p:nvPr/>
        </p:nvSpPr>
        <p:spPr>
          <a:xfrm>
            <a:off x="5047488" y="3127248"/>
            <a:ext cx="507492" cy="21945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rgbClr val="8DC63F"/>
            </a:solidFill>
            <a:prstDash val="solid"/>
          </a:ln>
        </p:spPr>
      </p:sp>
      <p:sp>
        <p:nvSpPr>
          <p:cNvPr id="35" name="a05_node_213"/>
          <p:cNvSpPr txBox="1"/>
          <p:nvPr/>
        </p:nvSpPr>
        <p:spPr>
          <a:xfrm>
            <a:off x="5047488" y="3127248"/>
            <a:ext cx="5074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LLM</a:t>
            </a:r>
            <a:endParaRPr lang="en-US" sz="900" dirty="0"/>
          </a:p>
        </p:txBody>
      </p:sp>
      <p:sp>
        <p:nvSpPr>
          <p:cNvPr id="36" name="a06w_arrow_214"/>
          <p:cNvSpPr/>
          <p:nvPr/>
        </p:nvSpPr>
        <p:spPr>
          <a:xfrm>
            <a:off x="6702552" y="2491740"/>
            <a:ext cx="310896" cy="0"/>
          </a:xfrm>
          <a:prstGeom prst="line">
            <a:avLst/>
          </a:prstGeom>
          <a:noFill/>
          <a:ln w="28575">
            <a:solidFill>
              <a:srgbClr val="5ED6C3"/>
            </a:solidFill>
            <a:prstDash val="solid"/>
            <a:tailEnd type="triangle"/>
          </a:ln>
        </p:spPr>
      </p:sp>
      <p:sp>
        <p:nvSpPr>
          <p:cNvPr id="37" name="a07_node_215"/>
          <p:cNvSpPr/>
          <p:nvPr/>
        </p:nvSpPr>
        <p:spPr>
          <a:xfrm>
            <a:off x="7050024" y="1554480"/>
            <a:ext cx="1783080" cy="1874520"/>
          </a:xfrm>
          <a:prstGeom prst="roundRect">
            <a:avLst>
              <a:gd name="adj" fmla="val 6154"/>
            </a:avLst>
          </a:prstGeom>
          <a:solidFill>
            <a:schemeClr val="accent6"/>
          </a:solidFill>
          <a:ln w="12700">
            <a:solidFill>
              <a:srgbClr val="1F5A55"/>
            </a:solidFill>
            <a:prstDash val="solid"/>
          </a:ln>
        </p:spPr>
      </p:sp>
      <p:sp>
        <p:nvSpPr>
          <p:cNvPr id="38" name="a07_node_216"/>
          <p:cNvSpPr/>
          <p:nvPr/>
        </p:nvSpPr>
        <p:spPr>
          <a:xfrm>
            <a:off x="7214616" y="171907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9" name="a07_node_21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2632" y="1847088"/>
            <a:ext cx="310896" cy="310896"/>
          </a:xfrm>
          <a:prstGeom prst="rect">
            <a:avLst/>
          </a:prstGeom>
        </p:spPr>
      </p:pic>
      <p:sp>
        <p:nvSpPr>
          <p:cNvPr id="40" name="a07_node_218"/>
          <p:cNvSpPr txBox="1"/>
          <p:nvPr/>
        </p:nvSpPr>
        <p:spPr>
          <a:xfrm>
            <a:off x="8101584" y="171907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41" name="a07_node_219"/>
          <p:cNvSpPr txBox="1"/>
          <p:nvPr/>
        </p:nvSpPr>
        <p:spPr>
          <a:xfrm>
            <a:off x="7214616" y="232257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Verifier</a:t>
            </a:r>
            <a:endParaRPr lang="en-US" sz="1500" dirty="0"/>
          </a:p>
        </p:txBody>
      </p:sp>
      <p:sp>
        <p:nvSpPr>
          <p:cNvPr id="42" name="a07_node_220"/>
          <p:cNvSpPr txBox="1"/>
          <p:nvPr/>
        </p:nvSpPr>
        <p:spPr>
          <a:xfrm>
            <a:off x="7214616" y="26334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E6DF"/>
                </a:solidFill>
              </a:rPr>
              <a:t>Quote must match the cited line</a:t>
            </a:r>
            <a:endParaRPr lang="en-US" sz="1100" dirty="0"/>
          </a:p>
        </p:txBody>
      </p:sp>
      <p:sp>
        <p:nvSpPr>
          <p:cNvPr id="43" name="a07_node_221"/>
          <p:cNvSpPr/>
          <p:nvPr/>
        </p:nvSpPr>
        <p:spPr>
          <a:xfrm>
            <a:off x="7214616" y="3127248"/>
            <a:ext cx="585216" cy="2194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rgbClr val="5ED6C3"/>
            </a:solidFill>
            <a:prstDash val="solid"/>
          </a:ln>
        </p:spPr>
      </p:sp>
      <p:sp>
        <p:nvSpPr>
          <p:cNvPr id="44" name="a07_node_222"/>
          <p:cNvSpPr txBox="1"/>
          <p:nvPr/>
        </p:nvSpPr>
        <p:spPr>
          <a:xfrm>
            <a:off x="7214616" y="3127248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CODE</a:t>
            </a:r>
            <a:endParaRPr lang="en-US" sz="900" dirty="0"/>
          </a:p>
        </p:txBody>
      </p:sp>
      <p:sp>
        <p:nvSpPr>
          <p:cNvPr id="45" name="a08w_arrow_223"/>
          <p:cNvSpPr/>
          <p:nvPr/>
        </p:nvSpPr>
        <p:spPr>
          <a:xfrm>
            <a:off x="8869680" y="2491740"/>
            <a:ext cx="310896" cy="0"/>
          </a:xfrm>
          <a:prstGeom prst="line">
            <a:avLst/>
          </a:prstGeom>
          <a:noFill/>
          <a:ln w="28575">
            <a:solidFill>
              <a:srgbClr val="5ED6C3"/>
            </a:solidFill>
            <a:prstDash val="solid"/>
            <a:tailEnd type="triangle"/>
          </a:ln>
        </p:spPr>
      </p:sp>
      <p:sp>
        <p:nvSpPr>
          <p:cNvPr id="46" name="a09_node_224"/>
          <p:cNvSpPr/>
          <p:nvPr/>
        </p:nvSpPr>
        <p:spPr>
          <a:xfrm>
            <a:off x="9217152" y="1554480"/>
            <a:ext cx="1783080" cy="1874520"/>
          </a:xfrm>
          <a:prstGeom prst="roundRect">
            <a:avLst>
              <a:gd name="adj" fmla="val 6154"/>
            </a:avLst>
          </a:prstGeom>
          <a:solidFill>
            <a:schemeClr val="accent6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47" name="a09_node_225"/>
          <p:cNvSpPr/>
          <p:nvPr/>
        </p:nvSpPr>
        <p:spPr>
          <a:xfrm>
            <a:off x="9381744" y="1719072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8" name="a09_node_22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0" y="1847088"/>
            <a:ext cx="310896" cy="310896"/>
          </a:xfrm>
          <a:prstGeom prst="rect">
            <a:avLst/>
          </a:prstGeom>
        </p:spPr>
      </p:pic>
      <p:sp>
        <p:nvSpPr>
          <p:cNvPr id="49" name="a09_node_227"/>
          <p:cNvSpPr txBox="1"/>
          <p:nvPr/>
        </p:nvSpPr>
        <p:spPr>
          <a:xfrm>
            <a:off x="10268712" y="171907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50" name="a09_node_228"/>
          <p:cNvSpPr txBox="1"/>
          <p:nvPr/>
        </p:nvSpPr>
        <p:spPr>
          <a:xfrm>
            <a:off x="9381744" y="232257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triage</a:t>
            </a:r>
            <a:endParaRPr lang="en-US" sz="1500" dirty="0"/>
          </a:p>
        </p:txBody>
      </p:sp>
      <p:sp>
        <p:nvSpPr>
          <p:cNvPr id="51" name="a09_node_229"/>
          <p:cNvSpPr txBox="1"/>
          <p:nvPr/>
        </p:nvSpPr>
        <p:spPr>
          <a:xfrm>
            <a:off x="9381744" y="26334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E6DF"/>
                </a:solidFill>
              </a:rPr>
              <a:t>Flags vague, med change, no date</a:t>
            </a:r>
            <a:endParaRPr lang="en-US" sz="1100" dirty="0"/>
          </a:p>
        </p:txBody>
      </p:sp>
      <p:sp>
        <p:nvSpPr>
          <p:cNvPr id="52" name="a09_node_230"/>
          <p:cNvSpPr/>
          <p:nvPr/>
        </p:nvSpPr>
        <p:spPr>
          <a:xfrm>
            <a:off x="9381744" y="3127248"/>
            <a:ext cx="896112" cy="2194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rgbClr val="8DC63F"/>
            </a:solidFill>
            <a:prstDash val="solid"/>
          </a:ln>
        </p:spPr>
      </p:sp>
      <p:sp>
        <p:nvSpPr>
          <p:cNvPr id="53" name="a09_node_231"/>
          <p:cNvSpPr txBox="1"/>
          <p:nvPr/>
        </p:nvSpPr>
        <p:spPr>
          <a:xfrm>
            <a:off x="9381744" y="312724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CODE+LLM</a:t>
            </a:r>
            <a:endParaRPr lang="en-US" sz="900" dirty="0"/>
          </a:p>
        </p:txBody>
      </p:sp>
      <p:sp>
        <p:nvSpPr>
          <p:cNvPr id="54" name="a10w_arrow_232"/>
          <p:cNvSpPr/>
          <p:nvPr/>
        </p:nvSpPr>
        <p:spPr>
          <a:xfrm>
            <a:off x="10108692" y="3465576"/>
            <a:ext cx="0" cy="292608"/>
          </a:xfrm>
          <a:prstGeom prst="line">
            <a:avLst/>
          </a:prstGeom>
          <a:noFill/>
          <a:ln w="28575">
            <a:solidFill>
              <a:srgbClr val="5ED6C3"/>
            </a:solidFill>
            <a:prstDash val="solid"/>
            <a:tailEnd type="triangle"/>
          </a:ln>
        </p:spPr>
      </p:sp>
      <p:sp>
        <p:nvSpPr>
          <p:cNvPr id="55" name="a11_node_233"/>
          <p:cNvSpPr/>
          <p:nvPr/>
        </p:nvSpPr>
        <p:spPr>
          <a:xfrm>
            <a:off x="9217152" y="3794760"/>
            <a:ext cx="1783080" cy="1874520"/>
          </a:xfrm>
          <a:prstGeom prst="roundRect">
            <a:avLst>
              <a:gd name="adj" fmla="val 6154"/>
            </a:avLst>
          </a:prstGeom>
          <a:solidFill>
            <a:schemeClr val="accent6"/>
          </a:solidFill>
          <a:ln w="12700">
            <a:solidFill>
              <a:srgbClr val="1F5A55"/>
            </a:solidFill>
            <a:prstDash val="solid"/>
          </a:ln>
        </p:spPr>
      </p:sp>
      <p:sp>
        <p:nvSpPr>
          <p:cNvPr id="56" name="a11_node_234"/>
          <p:cNvSpPr/>
          <p:nvPr/>
        </p:nvSpPr>
        <p:spPr>
          <a:xfrm>
            <a:off x="9381744" y="395935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7" name="a11_node_23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0" y="4087368"/>
            <a:ext cx="310896" cy="310896"/>
          </a:xfrm>
          <a:prstGeom prst="rect">
            <a:avLst/>
          </a:prstGeom>
        </p:spPr>
      </p:pic>
      <p:sp>
        <p:nvSpPr>
          <p:cNvPr id="58" name="a11_node_236"/>
          <p:cNvSpPr txBox="1"/>
          <p:nvPr/>
        </p:nvSpPr>
        <p:spPr>
          <a:xfrm>
            <a:off x="10268712" y="395935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59" name="a11_node_237"/>
          <p:cNvSpPr txBox="1"/>
          <p:nvPr/>
        </p:nvSpPr>
        <p:spPr>
          <a:xfrm>
            <a:off x="9381744" y="456285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1500" dirty="0"/>
          </a:p>
        </p:txBody>
      </p:sp>
      <p:sp>
        <p:nvSpPr>
          <p:cNvPr id="60" name="a11_node_238"/>
          <p:cNvSpPr txBox="1"/>
          <p:nvPr/>
        </p:nvSpPr>
        <p:spPr>
          <a:xfrm>
            <a:off x="9381744" y="487375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E6DF"/>
                </a:solidFill>
              </a:rPr>
              <a:t>Tasks, reminders, timeline</a:t>
            </a:r>
            <a:endParaRPr lang="en-US" sz="1100" dirty="0"/>
          </a:p>
        </p:txBody>
      </p:sp>
      <p:sp>
        <p:nvSpPr>
          <p:cNvPr id="61" name="a11_node_239"/>
          <p:cNvSpPr/>
          <p:nvPr/>
        </p:nvSpPr>
        <p:spPr>
          <a:xfrm>
            <a:off x="9381744" y="5367528"/>
            <a:ext cx="585216" cy="2194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rgbClr val="5ED6C3"/>
            </a:solidFill>
            <a:prstDash val="solid"/>
          </a:ln>
        </p:spPr>
      </p:sp>
      <p:sp>
        <p:nvSpPr>
          <p:cNvPr id="62" name="a11_node_240"/>
          <p:cNvSpPr txBox="1"/>
          <p:nvPr/>
        </p:nvSpPr>
        <p:spPr>
          <a:xfrm>
            <a:off x="9381744" y="5367528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CODE</a:t>
            </a:r>
            <a:endParaRPr lang="en-US" sz="900" dirty="0"/>
          </a:p>
        </p:txBody>
      </p:sp>
      <p:sp>
        <p:nvSpPr>
          <p:cNvPr id="63" name="a12w_arrow_241"/>
          <p:cNvSpPr/>
          <p:nvPr/>
        </p:nvSpPr>
        <p:spPr>
          <a:xfrm>
            <a:off x="8869680" y="4732020"/>
            <a:ext cx="310896" cy="0"/>
          </a:xfrm>
          <a:prstGeom prst="line">
            <a:avLst/>
          </a:prstGeom>
          <a:noFill/>
          <a:ln w="28575">
            <a:solidFill>
              <a:srgbClr val="5ED6C3"/>
            </a:solidFill>
            <a:prstDash val="solid"/>
            <a:headEnd type="triangle"/>
          </a:ln>
        </p:spPr>
      </p:sp>
      <p:sp>
        <p:nvSpPr>
          <p:cNvPr id="64" name="a13_node_242"/>
          <p:cNvSpPr/>
          <p:nvPr/>
        </p:nvSpPr>
        <p:spPr>
          <a:xfrm>
            <a:off x="7050024" y="3794760"/>
            <a:ext cx="1783080" cy="1874520"/>
          </a:xfrm>
          <a:prstGeom prst="roundRect">
            <a:avLst>
              <a:gd name="adj" fmla="val 6154"/>
            </a:avLst>
          </a:prstGeom>
          <a:solidFill>
            <a:schemeClr val="accent6"/>
          </a:solidFill>
          <a:ln w="12700">
            <a:solidFill>
              <a:srgbClr val="1F5A55"/>
            </a:solidFill>
            <a:prstDash val="solid"/>
          </a:ln>
        </p:spPr>
      </p:sp>
      <p:sp>
        <p:nvSpPr>
          <p:cNvPr id="65" name="a13_node_243"/>
          <p:cNvSpPr/>
          <p:nvPr/>
        </p:nvSpPr>
        <p:spPr>
          <a:xfrm>
            <a:off x="7214616" y="395935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6" name="a13_node_24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2632" y="4087368"/>
            <a:ext cx="310896" cy="310896"/>
          </a:xfrm>
          <a:prstGeom prst="rect">
            <a:avLst/>
          </a:prstGeom>
        </p:spPr>
      </p:pic>
      <p:sp>
        <p:nvSpPr>
          <p:cNvPr id="67" name="a13_node_245"/>
          <p:cNvSpPr txBox="1"/>
          <p:nvPr/>
        </p:nvSpPr>
        <p:spPr>
          <a:xfrm>
            <a:off x="8101584" y="395935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000" dirty="0"/>
          </a:p>
        </p:txBody>
      </p:sp>
      <p:sp>
        <p:nvSpPr>
          <p:cNvPr id="68" name="a13_node_246"/>
          <p:cNvSpPr txBox="1"/>
          <p:nvPr/>
        </p:nvSpPr>
        <p:spPr>
          <a:xfrm>
            <a:off x="7214616" y="456285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Simplifier</a:t>
            </a:r>
            <a:endParaRPr lang="en-US" sz="1500" dirty="0"/>
          </a:p>
        </p:txBody>
      </p:sp>
      <p:sp>
        <p:nvSpPr>
          <p:cNvPr id="69" name="a13_node_247"/>
          <p:cNvSpPr txBox="1"/>
          <p:nvPr/>
        </p:nvSpPr>
        <p:spPr>
          <a:xfrm>
            <a:off x="7214616" y="487375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E6DF"/>
                </a:solidFill>
              </a:rPr>
              <a:t>Plain words in 6 languages</a:t>
            </a:r>
            <a:endParaRPr lang="en-US" sz="1100" dirty="0"/>
          </a:p>
        </p:txBody>
      </p:sp>
      <p:sp>
        <p:nvSpPr>
          <p:cNvPr id="70" name="a13_node_248"/>
          <p:cNvSpPr/>
          <p:nvPr/>
        </p:nvSpPr>
        <p:spPr>
          <a:xfrm>
            <a:off x="7214616" y="5367528"/>
            <a:ext cx="507492" cy="21945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rgbClr val="8DC63F"/>
            </a:solidFill>
            <a:prstDash val="solid"/>
          </a:ln>
        </p:spPr>
      </p:sp>
      <p:sp>
        <p:nvSpPr>
          <p:cNvPr id="71" name="a13_node_249"/>
          <p:cNvSpPr txBox="1"/>
          <p:nvPr/>
        </p:nvSpPr>
        <p:spPr>
          <a:xfrm>
            <a:off x="7214616" y="5367528"/>
            <a:ext cx="5074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LLM</a:t>
            </a:r>
            <a:endParaRPr lang="en-US" sz="900" dirty="0"/>
          </a:p>
        </p:txBody>
      </p:sp>
      <p:sp>
        <p:nvSpPr>
          <p:cNvPr id="72" name="a14w_arrow_250"/>
          <p:cNvSpPr/>
          <p:nvPr/>
        </p:nvSpPr>
        <p:spPr>
          <a:xfrm>
            <a:off x="6702552" y="4732020"/>
            <a:ext cx="310896" cy="0"/>
          </a:xfrm>
          <a:prstGeom prst="line">
            <a:avLst/>
          </a:prstGeom>
          <a:noFill/>
          <a:ln w="28575">
            <a:solidFill>
              <a:srgbClr val="5ED6C3"/>
            </a:solidFill>
            <a:prstDash val="solid"/>
            <a:headEnd type="triangle"/>
          </a:ln>
        </p:spPr>
      </p:sp>
      <p:sp>
        <p:nvSpPr>
          <p:cNvPr id="73" name="a15_node_251"/>
          <p:cNvSpPr/>
          <p:nvPr/>
        </p:nvSpPr>
        <p:spPr>
          <a:xfrm>
            <a:off x="4882896" y="3794760"/>
            <a:ext cx="1783080" cy="1874520"/>
          </a:xfrm>
          <a:prstGeom prst="roundRect">
            <a:avLst>
              <a:gd name="adj" fmla="val 6154"/>
            </a:avLst>
          </a:prstGeom>
          <a:solidFill>
            <a:schemeClr val="accent6"/>
          </a:solidFill>
          <a:ln w="12700">
            <a:solidFill>
              <a:srgbClr val="1F5A55"/>
            </a:solidFill>
            <a:prstDash val="solid"/>
          </a:ln>
        </p:spPr>
      </p:sp>
      <p:sp>
        <p:nvSpPr>
          <p:cNvPr id="74" name="a15_node_252"/>
          <p:cNvSpPr/>
          <p:nvPr/>
        </p:nvSpPr>
        <p:spPr>
          <a:xfrm>
            <a:off x="5047488" y="395935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5" name="a15_node_25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5504" y="4087368"/>
            <a:ext cx="310896" cy="310896"/>
          </a:xfrm>
          <a:prstGeom prst="rect">
            <a:avLst/>
          </a:prstGeom>
        </p:spPr>
      </p:pic>
      <p:sp>
        <p:nvSpPr>
          <p:cNvPr id="76" name="a15_node_254"/>
          <p:cNvSpPr txBox="1"/>
          <p:nvPr/>
        </p:nvSpPr>
        <p:spPr>
          <a:xfrm>
            <a:off x="5934456" y="395935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000" dirty="0"/>
          </a:p>
        </p:txBody>
      </p:sp>
      <p:sp>
        <p:nvSpPr>
          <p:cNvPr id="77" name="a15_node_255"/>
          <p:cNvSpPr txBox="1"/>
          <p:nvPr/>
        </p:nvSpPr>
        <p:spPr>
          <a:xfrm>
            <a:off x="5047488" y="456285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match</a:t>
            </a:r>
            <a:endParaRPr lang="en-US" sz="1500" dirty="0"/>
          </a:p>
        </p:txBody>
      </p:sp>
      <p:sp>
        <p:nvSpPr>
          <p:cNvPr id="78" name="a15_node_256"/>
          <p:cNvSpPr txBox="1"/>
          <p:nvPr/>
        </p:nvSpPr>
        <p:spPr>
          <a:xfrm>
            <a:off x="5047488" y="487375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E6DF"/>
                </a:solidFill>
              </a:rPr>
              <a:t>Top 3 nearby, with reasons</a:t>
            </a:r>
            <a:endParaRPr lang="en-US" sz="1100" dirty="0"/>
          </a:p>
        </p:txBody>
      </p:sp>
      <p:sp>
        <p:nvSpPr>
          <p:cNvPr id="79" name="a15_node_257"/>
          <p:cNvSpPr/>
          <p:nvPr/>
        </p:nvSpPr>
        <p:spPr>
          <a:xfrm>
            <a:off x="5047488" y="5367528"/>
            <a:ext cx="585216" cy="2194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rgbClr val="5ED6C3"/>
            </a:solidFill>
            <a:prstDash val="solid"/>
          </a:ln>
        </p:spPr>
      </p:sp>
      <p:sp>
        <p:nvSpPr>
          <p:cNvPr id="80" name="a15_node_258"/>
          <p:cNvSpPr txBox="1"/>
          <p:nvPr/>
        </p:nvSpPr>
        <p:spPr>
          <a:xfrm>
            <a:off x="5047488" y="5367528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CODE</a:t>
            </a:r>
            <a:endParaRPr lang="en-US" sz="900" dirty="0"/>
          </a:p>
        </p:txBody>
      </p:sp>
      <p:sp>
        <p:nvSpPr>
          <p:cNvPr id="81" name="a16w_arrow_259"/>
          <p:cNvSpPr/>
          <p:nvPr/>
        </p:nvSpPr>
        <p:spPr>
          <a:xfrm>
            <a:off x="4535424" y="4732020"/>
            <a:ext cx="310896" cy="0"/>
          </a:xfrm>
          <a:prstGeom prst="line">
            <a:avLst/>
          </a:prstGeom>
          <a:noFill/>
          <a:ln w="28575">
            <a:solidFill>
              <a:srgbClr val="5ED6C3"/>
            </a:solidFill>
            <a:prstDash val="solid"/>
            <a:headEnd type="triangle"/>
          </a:ln>
        </p:spPr>
      </p:sp>
      <p:sp>
        <p:nvSpPr>
          <p:cNvPr id="82" name="a17_node_260"/>
          <p:cNvSpPr/>
          <p:nvPr/>
        </p:nvSpPr>
        <p:spPr>
          <a:xfrm>
            <a:off x="2715768" y="3794760"/>
            <a:ext cx="1783080" cy="1874520"/>
          </a:xfrm>
          <a:prstGeom prst="roundRect">
            <a:avLst>
              <a:gd name="adj" fmla="val 6154"/>
            </a:avLst>
          </a:prstGeom>
          <a:solidFill>
            <a:schemeClr val="accent6"/>
          </a:solidFill>
          <a:ln w="12700">
            <a:solidFill>
              <a:srgbClr val="1F5A55"/>
            </a:solidFill>
            <a:prstDash val="solid"/>
          </a:ln>
        </p:spPr>
      </p:sp>
      <p:sp>
        <p:nvSpPr>
          <p:cNvPr id="83" name="a17_node_261"/>
          <p:cNvSpPr/>
          <p:nvPr/>
        </p:nvSpPr>
        <p:spPr>
          <a:xfrm>
            <a:off x="2880360" y="395935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4" name="a17_node_262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08376" y="4087368"/>
            <a:ext cx="310896" cy="310896"/>
          </a:xfrm>
          <a:prstGeom prst="rect">
            <a:avLst/>
          </a:prstGeom>
        </p:spPr>
      </p:pic>
      <p:sp>
        <p:nvSpPr>
          <p:cNvPr id="85" name="a17_node_263"/>
          <p:cNvSpPr txBox="1"/>
          <p:nvPr/>
        </p:nvSpPr>
        <p:spPr>
          <a:xfrm>
            <a:off x="3767328" y="395935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000" dirty="0"/>
          </a:p>
        </p:txBody>
      </p:sp>
      <p:sp>
        <p:nvSpPr>
          <p:cNvPr id="86" name="a17_node_264"/>
          <p:cNvSpPr txBox="1"/>
          <p:nvPr/>
        </p:nvSpPr>
        <p:spPr>
          <a:xfrm>
            <a:off x="2880360" y="456285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</a:t>
            </a:r>
            <a:endParaRPr lang="en-US" sz="1500" dirty="0"/>
          </a:p>
        </p:txBody>
      </p:sp>
      <p:sp>
        <p:nvSpPr>
          <p:cNvPr id="87" name="a17_node_265"/>
          <p:cNvSpPr txBox="1"/>
          <p:nvPr/>
        </p:nvSpPr>
        <p:spPr>
          <a:xfrm>
            <a:off x="2880360" y="487375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E6DF"/>
                </a:solidFill>
              </a:rPr>
              <a:t>Reminder, family, then doctor</a:t>
            </a:r>
            <a:endParaRPr lang="en-US" sz="1100" dirty="0"/>
          </a:p>
        </p:txBody>
      </p:sp>
      <p:sp>
        <p:nvSpPr>
          <p:cNvPr id="88" name="a17_node_266"/>
          <p:cNvSpPr/>
          <p:nvPr/>
        </p:nvSpPr>
        <p:spPr>
          <a:xfrm>
            <a:off x="2880360" y="5367528"/>
            <a:ext cx="585216" cy="2194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rgbClr val="5ED6C3"/>
            </a:solidFill>
            <a:prstDash val="solid"/>
          </a:ln>
        </p:spPr>
      </p:sp>
      <p:sp>
        <p:nvSpPr>
          <p:cNvPr id="89" name="a17_node_267"/>
          <p:cNvSpPr txBox="1"/>
          <p:nvPr/>
        </p:nvSpPr>
        <p:spPr>
          <a:xfrm>
            <a:off x="2880360" y="5367528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CODE</a:t>
            </a:r>
            <a:endParaRPr lang="en-US" sz="900" dirty="0"/>
          </a:p>
        </p:txBody>
      </p:sp>
      <p:sp>
        <p:nvSpPr>
          <p:cNvPr id="90" name="a18w_arrow_268"/>
          <p:cNvSpPr/>
          <p:nvPr/>
        </p:nvSpPr>
        <p:spPr>
          <a:xfrm>
            <a:off x="2368296" y="4732020"/>
            <a:ext cx="310896" cy="0"/>
          </a:xfrm>
          <a:prstGeom prst="line">
            <a:avLst/>
          </a:prstGeom>
          <a:noFill/>
          <a:ln w="28575">
            <a:solidFill>
              <a:srgbClr val="5ED6C3"/>
            </a:solidFill>
            <a:prstDash val="solid"/>
            <a:headEnd type="triangle"/>
          </a:ln>
        </p:spPr>
      </p:sp>
      <p:sp>
        <p:nvSpPr>
          <p:cNvPr id="91" name="a19_out_269"/>
          <p:cNvSpPr/>
          <p:nvPr/>
        </p:nvSpPr>
        <p:spPr>
          <a:xfrm>
            <a:off x="548640" y="3794760"/>
            <a:ext cx="1783080" cy="1874520"/>
          </a:xfrm>
          <a:prstGeom prst="roundRect">
            <a:avLst>
              <a:gd name="adj" fmla="val 6154"/>
            </a:avLst>
          </a:prstGeom>
          <a:solidFill>
            <a:schemeClr val="accent3"/>
          </a:solidFill>
          <a:ln w="12700">
            <a:solidFill>
              <a:srgbClr val="8DC63F"/>
            </a:solidFill>
            <a:prstDash val="solid"/>
          </a:ln>
        </p:spPr>
      </p:sp>
      <p:pic>
        <p:nvPicPr>
          <p:cNvPr id="92" name="a19_out_27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" y="3977640"/>
            <a:ext cx="548640" cy="548640"/>
          </a:xfrm>
          <a:prstGeom prst="rect">
            <a:avLst/>
          </a:prstGeom>
        </p:spPr>
      </p:pic>
      <p:sp>
        <p:nvSpPr>
          <p:cNvPr id="93" name="a19_out_271"/>
          <p:cNvSpPr txBox="1"/>
          <p:nvPr/>
        </p:nvSpPr>
        <p:spPr>
          <a:xfrm>
            <a:off x="731520" y="459943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ready</a:t>
            </a:r>
            <a:endParaRPr lang="en-US" sz="1700" dirty="0"/>
          </a:p>
        </p:txBody>
      </p:sp>
      <p:sp>
        <p:nvSpPr>
          <p:cNvPr id="94" name="a19_out_272"/>
          <p:cNvSpPr txBox="1"/>
          <p:nvPr/>
        </p:nvSpPr>
        <p:spPr>
          <a:xfrm>
            <a:off x="731520" y="49377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Today view, timeline, fridge sheet, family alerts</a:t>
            </a:r>
            <a:endParaRPr lang="en-US" sz="1100" dirty="0"/>
          </a:p>
        </p:txBody>
      </p:sp>
      <p:sp>
        <p:nvSpPr>
          <p:cNvPr id="95" name="a20w_loop_273"/>
          <p:cNvSpPr/>
          <p:nvPr/>
        </p:nvSpPr>
        <p:spPr>
          <a:xfrm>
            <a:off x="11018520" y="2491740"/>
            <a:ext cx="411480" cy="0"/>
          </a:xfrm>
          <a:prstGeom prst="line">
            <a:avLst/>
          </a:prstGeom>
          <a:noFill/>
          <a:ln w="28575">
            <a:solidFill>
              <a:srgbClr val="B5452F"/>
            </a:solidFill>
            <a:prstDash val="dash"/>
          </a:ln>
        </p:spPr>
      </p:sp>
      <p:sp>
        <p:nvSpPr>
          <p:cNvPr id="96" name="a20w_arrow_274"/>
          <p:cNvSpPr/>
          <p:nvPr/>
        </p:nvSpPr>
        <p:spPr>
          <a:xfrm>
            <a:off x="11430000" y="2491740"/>
            <a:ext cx="0" cy="3296412"/>
          </a:xfrm>
          <a:prstGeom prst="line">
            <a:avLst/>
          </a:prstGeom>
          <a:noFill/>
          <a:ln w="28575">
            <a:solidFill>
              <a:srgbClr val="B5452F"/>
            </a:solidFill>
            <a:prstDash val="dash"/>
            <a:tailEnd type="triangle"/>
          </a:ln>
        </p:spPr>
      </p:sp>
      <p:sp>
        <p:nvSpPr>
          <p:cNvPr id="97" name="a21_doc_275"/>
          <p:cNvSpPr/>
          <p:nvPr/>
        </p:nvSpPr>
        <p:spPr>
          <a:xfrm>
            <a:off x="548640" y="5806440"/>
            <a:ext cx="11091672" cy="475488"/>
          </a:xfrm>
          <a:prstGeom prst="roundRect">
            <a:avLst>
              <a:gd name="adj" fmla="val 19231"/>
            </a:avLst>
          </a:prstGeom>
          <a:solidFill>
            <a:schemeClr val="accent5"/>
          </a:solidFill>
          <a:ln w="12700">
            <a:solidFill>
              <a:srgbClr val="B5452F"/>
            </a:solidFill>
            <a:prstDash val="solid"/>
          </a:ln>
        </p:spPr>
      </p:sp>
      <p:pic>
        <p:nvPicPr>
          <p:cNvPr id="98" name="a21_doc_276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3232" y="5907024"/>
            <a:ext cx="274320" cy="274320"/>
          </a:xfrm>
          <a:prstGeom prst="rect">
            <a:avLst/>
          </a:prstGeom>
        </p:spPr>
      </p:pic>
      <p:sp>
        <p:nvSpPr>
          <p:cNvPr id="99" name="a21_doc_277"/>
          <p:cNvSpPr txBox="1"/>
          <p:nvPr/>
        </p:nvSpPr>
        <p:spPr>
          <a:xfrm>
            <a:off x="1097280" y="5806440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Human in the loop: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flagged items go to a doctor (with a backup)  →  Confirm · Correct · Send back  →  re-checked, then added to the plan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D6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29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" dur="450"/>
                                              <p:tgtEl>
                                                <p:spTgt spid="1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" dur="45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" dur="45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4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" dur="45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9" dur="45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0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2" dur="45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3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5" dur="45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6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8" dur="45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3" fill="hold">
                                  <p:stCondLst>
                                    <p:cond delay="380"/>
                                  </p:stCondLst>
                                  <p:childTnLst>
                                    <p:par>
                                      <p:cTn id="30" presetID="2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wipe(left)">
                                            <p:cBhvr>
                                              <p:cTn id="32" dur="45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760"/>
                                  </p:stCondLst>
                                  <p:childTnLst>
                                    <p:par>
                                      <p:cTn id="34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6" dur="45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3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9" dur="45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40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2" dur="45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43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5" dur="450"/>
                                              <p:tgtEl>
                                                <p:spTgt spid="2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46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8" dur="45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49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1" dur="450"/>
                                              <p:tgtEl>
                                                <p:spTgt spid="2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5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4" dur="450"/>
                                              <p:tgtEl>
                                                <p:spTgt spid="2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55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7" dur="450"/>
                                              <p:tgtEl>
                                                <p:spTgt spid="2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1140"/>
                                  </p:stCondLst>
                                  <p:childTnLst>
                                    <p:par>
                                      <p:cTn id="59" presetID="2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wipe(left)">
                                            <p:cBhvr>
                                              <p:cTn id="61" dur="450"/>
                                              <p:tgtEl>
                                                <p:spTgt spid="2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7" fill="hold">
                                  <p:stCondLst>
                                    <p:cond delay="1520"/>
                                  </p:stCondLst>
                                  <p:childTnLst>
                                    <p:par>
                                      <p:cTn id="63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5" dur="450"/>
                                              <p:tgtEl>
                                                <p:spTgt spid="2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66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8" dur="450"/>
                                              <p:tgtEl>
                                                <p:spTgt spid="2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69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1" dur="450"/>
                                              <p:tgtEl>
                                                <p:spTgt spid="3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7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4" dur="450"/>
                                              <p:tgtEl>
                                                <p:spTgt spid="3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75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7" dur="450"/>
                                              <p:tgtEl>
                                                <p:spTgt spid="3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7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0" dur="450"/>
                                              <p:tgtEl>
                                                <p:spTgt spid="3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8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3" dur="450"/>
                                              <p:tgtEl>
                                                <p:spTgt spid="3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84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6" dur="450"/>
                                              <p:tgtEl>
                                                <p:spTgt spid="3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1" fill="hold">
                                  <p:stCondLst>
                                    <p:cond delay="1900"/>
                                  </p:stCondLst>
                                  <p:childTnLst>
                                    <p:par>
                                      <p:cTn id="88" presetID="2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wipe(left)">
                                            <p:cBhvr>
                                              <p:cTn id="90" dur="450"/>
                                              <p:tgtEl>
                                                <p:spTgt spid="3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6" fill="hold">
                                  <p:stCondLst>
                                    <p:cond delay="2280"/>
                                  </p:stCondLst>
                                  <p:childTnLst>
                                    <p:par>
                                      <p:cTn id="9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4" dur="450"/>
                                              <p:tgtEl>
                                                <p:spTgt spid="3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95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7" dur="450"/>
                                              <p:tgtEl>
                                                <p:spTgt spid="3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9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0" dur="450"/>
                                              <p:tgtEl>
                                                <p:spTgt spid="3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0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3" dur="450"/>
                                              <p:tgtEl>
                                                <p:spTgt spid="4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04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6" dur="450"/>
                                              <p:tgtEl>
                                                <p:spTgt spid="4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0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9" dur="450"/>
                                              <p:tgtEl>
                                                <p:spTgt spid="4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10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2" dur="450"/>
                                              <p:tgtEl>
                                                <p:spTgt spid="4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13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5" dur="450"/>
                                              <p:tgtEl>
                                                <p:spTgt spid="4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20" fill="hold">
                                  <p:stCondLst>
                                    <p:cond delay="2660"/>
                                  </p:stCondLst>
                                  <p:childTnLst>
                                    <p:par>
                                      <p:cTn id="117" presetID="2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wipe(left)">
                                            <p:cBhvr>
                                              <p:cTn id="119" dur="450"/>
                                              <p:tgtEl>
                                                <p:spTgt spid="4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45" fill="hold">
                                  <p:stCondLst>
                                    <p:cond delay="3040"/>
                                  </p:stCondLst>
                                  <p:childTnLst>
                                    <p:par>
                                      <p:cTn id="121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3" dur="450"/>
                                              <p:tgtEl>
                                                <p:spTgt spid="4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24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6" dur="450"/>
                                              <p:tgtEl>
                                                <p:spTgt spid="4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2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9" dur="450"/>
                                              <p:tgtEl>
                                                <p:spTgt spid="4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30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2" dur="450"/>
                                              <p:tgtEl>
                                                <p:spTgt spid="4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33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5" dur="450"/>
                                              <p:tgtEl>
                                                <p:spTgt spid="5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36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8" dur="450"/>
                                              <p:tgtEl>
                                                <p:spTgt spid="5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39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4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41" dur="450"/>
                                              <p:tgtEl>
                                                <p:spTgt spid="5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4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4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44" dur="450"/>
                                              <p:tgtEl>
                                                <p:spTgt spid="5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49" fill="hold">
                                  <p:stCondLst>
                                    <p:cond delay="3420"/>
                                  </p:stCondLst>
                                  <p:childTnLst>
                                    <p:par>
                                      <p:cTn id="146" presetID="2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4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wipe(left)">
                                            <p:cBhvr>
                                              <p:cTn id="148" dur="450"/>
                                              <p:tgtEl>
                                                <p:spTgt spid="5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74" fill="hold">
                                  <p:stCondLst>
                                    <p:cond delay="3800"/>
                                  </p:stCondLst>
                                  <p:childTnLst>
                                    <p:par>
                                      <p:cTn id="150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52" dur="450"/>
                                              <p:tgtEl>
                                                <p:spTgt spid="5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53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55" dur="450"/>
                                              <p:tgtEl>
                                                <p:spTgt spid="5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56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58" dur="450"/>
                                              <p:tgtEl>
                                                <p:spTgt spid="5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59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6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1" dur="450"/>
                                              <p:tgtEl>
                                                <p:spTgt spid="5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6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6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4" dur="450"/>
                                              <p:tgtEl>
                                                <p:spTgt spid="5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65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6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7" dur="450"/>
                                              <p:tgtEl>
                                                <p:spTgt spid="6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6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6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70" dur="450"/>
                                              <p:tgtEl>
                                                <p:spTgt spid="6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7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73" dur="450"/>
                                              <p:tgtEl>
                                                <p:spTgt spid="6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78" fill="hold">
                                  <p:stCondLst>
                                    <p:cond delay="4180"/>
                                  </p:stCondLst>
                                  <p:childTnLst>
                                    <p:par>
                                      <p:cTn id="175" presetID="2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wipe(left)">
                                            <p:cBhvr>
                                              <p:cTn id="177" dur="450"/>
                                              <p:tgtEl>
                                                <p:spTgt spid="6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03" fill="hold">
                                  <p:stCondLst>
                                    <p:cond delay="4560"/>
                                  </p:stCondLst>
                                  <p:childTnLst>
                                    <p:par>
                                      <p:cTn id="179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81" dur="450"/>
                                              <p:tgtEl>
                                                <p:spTgt spid="6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8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84" dur="450"/>
                                              <p:tgtEl>
                                                <p:spTgt spid="6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85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87" dur="450"/>
                                              <p:tgtEl>
                                                <p:spTgt spid="6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8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90" dur="450"/>
                                              <p:tgtEl>
                                                <p:spTgt spid="6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9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9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93" dur="450"/>
                                              <p:tgtEl>
                                                <p:spTgt spid="6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94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9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96" dur="450"/>
                                              <p:tgtEl>
                                                <p:spTgt spid="6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9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9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99" dur="450"/>
                                              <p:tgtEl>
                                                <p:spTgt spid="7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00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0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02" dur="450"/>
                                              <p:tgtEl>
                                                <p:spTgt spid="7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07" fill="hold">
                                  <p:stCondLst>
                                    <p:cond delay="4940"/>
                                  </p:stCondLst>
                                  <p:childTnLst>
                                    <p:par>
                                      <p:cTn id="204" presetID="2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0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wipe(left)">
                                            <p:cBhvr>
                                              <p:cTn id="206" dur="450"/>
                                              <p:tgtEl>
                                                <p:spTgt spid="7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32" fill="hold">
                                  <p:stCondLst>
                                    <p:cond delay="5320"/>
                                  </p:stCondLst>
                                  <p:childTnLst>
                                    <p:par>
                                      <p:cTn id="208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0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10" dur="450"/>
                                              <p:tgtEl>
                                                <p:spTgt spid="7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1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1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13" dur="450"/>
                                              <p:tgtEl>
                                                <p:spTgt spid="7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14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1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16" dur="450"/>
                                              <p:tgtEl>
                                                <p:spTgt spid="7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1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19" dur="450"/>
                                              <p:tgtEl>
                                                <p:spTgt spid="7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20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22" dur="450"/>
                                              <p:tgtEl>
                                                <p:spTgt spid="7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23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25" dur="450"/>
                                              <p:tgtEl>
                                                <p:spTgt spid="7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26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28" dur="450"/>
                                              <p:tgtEl>
                                                <p:spTgt spid="7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29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3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31" dur="450"/>
                                              <p:tgtEl>
                                                <p:spTgt spid="8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36" fill="hold">
                                  <p:stCondLst>
                                    <p:cond delay="5700"/>
                                  </p:stCondLst>
                                  <p:childTnLst>
                                    <p:par>
                                      <p:cTn id="233" presetID="2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3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wipe(left)">
                                            <p:cBhvr>
                                              <p:cTn id="235" dur="450"/>
                                              <p:tgtEl>
                                                <p:spTgt spid="8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61" fill="hold">
                                  <p:stCondLst>
                                    <p:cond delay="6080"/>
                                  </p:stCondLst>
                                  <p:childTnLst>
                                    <p:par>
                                      <p:cTn id="237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3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39" dur="450"/>
                                              <p:tgtEl>
                                                <p:spTgt spid="8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40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4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42" dur="450"/>
                                              <p:tgtEl>
                                                <p:spTgt spid="8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43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4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45" dur="450"/>
                                              <p:tgtEl>
                                                <p:spTgt spid="8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46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4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48" dur="450"/>
                                              <p:tgtEl>
                                                <p:spTgt spid="8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49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51" dur="450"/>
                                              <p:tgtEl>
                                                <p:spTgt spid="8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5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54" dur="450"/>
                                              <p:tgtEl>
                                                <p:spTgt spid="8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55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57" dur="450"/>
                                              <p:tgtEl>
                                                <p:spTgt spid="8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5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60" dur="450"/>
                                              <p:tgtEl>
                                                <p:spTgt spid="8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65" fill="hold">
                                  <p:stCondLst>
                                    <p:cond delay="6460"/>
                                  </p:stCondLst>
                                  <p:childTnLst>
                                    <p:par>
                                      <p:cTn id="262" presetID="2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wipe(left)">
                                            <p:cBhvr>
                                              <p:cTn id="264" dur="450"/>
                                              <p:tgtEl>
                                                <p:spTgt spid="9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78" fill="hold">
                                  <p:stCondLst>
                                    <p:cond delay="6840"/>
                                  </p:stCondLst>
                                  <p:childTnLst>
                                    <p:par>
                                      <p:cTn id="266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68" dur="450"/>
                                              <p:tgtEl>
                                                <p:spTgt spid="9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69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71" dur="450"/>
                                              <p:tgtEl>
                                                <p:spTgt spid="9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7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74" dur="450"/>
                                              <p:tgtEl>
                                                <p:spTgt spid="9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75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77" dur="450"/>
                                              <p:tgtEl>
                                                <p:spTgt spid="9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85" fill="hold">
                                  <p:stCondLst>
                                    <p:cond delay="7220"/>
                                  </p:stCondLst>
                                  <p:childTnLst>
                                    <p:par>
                                      <p:cTn id="279" presetID="2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8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wipe(left)">
                                            <p:cBhvr>
                                              <p:cTn id="281" dur="450"/>
                                              <p:tgtEl>
                                                <p:spTgt spid="9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82" presetID="22" presetClass="entr" presetSubtype="8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8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wipe(left)">
                                            <p:cBhvr>
                                              <p:cTn id="284" dur="450"/>
                                              <p:tgtEl>
                                                <p:spTgt spid="9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95" fill="hold">
                                  <p:stCondLst>
                                    <p:cond delay="7600"/>
                                  </p:stCondLst>
                                  <p:childTnLst>
                                    <p:par>
                                      <p:cTn id="286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8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88" dur="450"/>
                                              <p:tgtEl>
                                                <p:spTgt spid="9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89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9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91" dur="450"/>
                                              <p:tgtEl>
                                                <p:spTgt spid="9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9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9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94" dur="450"/>
                                              <p:tgtEl>
                                                <p:spTgt spid="9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RESPONSIBLE AI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It organizes and explains. A doctor decides</a:t>
            </a:r>
            <a:endParaRPr lang="en-US" sz="3200" dirty="0"/>
          </a:p>
        </p:txBody>
      </p:sp>
      <p:sp>
        <p:nvSpPr>
          <p:cNvPr id="4" name="a01_never_278"/>
          <p:cNvSpPr/>
          <p:nvPr/>
        </p:nvSpPr>
        <p:spPr>
          <a:xfrm>
            <a:off x="548640" y="1554480"/>
            <a:ext cx="3931920" cy="4526280"/>
          </a:xfrm>
          <a:prstGeom prst="roundRect">
            <a:avLst>
              <a:gd name="adj" fmla="val 279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a01_never_279"/>
          <p:cNvSpPr txBox="1"/>
          <p:nvPr/>
        </p:nvSpPr>
        <p:spPr>
          <a:xfrm>
            <a:off x="868680" y="1783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CareBridge never</a:t>
            </a:r>
            <a:endParaRPr lang="en-US" sz="2200" dirty="0"/>
          </a:p>
        </p:txBody>
      </p:sp>
      <p:sp>
        <p:nvSpPr>
          <p:cNvPr id="6" name="a02_nv_280"/>
          <p:cNvSpPr/>
          <p:nvPr/>
        </p:nvSpPr>
        <p:spPr>
          <a:xfrm>
            <a:off x="868680" y="24505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a02_nv_28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551176"/>
            <a:ext cx="182880" cy="182880"/>
          </a:xfrm>
          <a:prstGeom prst="rect">
            <a:avLst/>
          </a:prstGeom>
        </p:spPr>
      </p:pic>
      <p:sp>
        <p:nvSpPr>
          <p:cNvPr id="8" name="a02_nv_282"/>
          <p:cNvSpPr txBox="1"/>
          <p:nvPr/>
        </p:nvSpPr>
        <p:spPr>
          <a:xfrm>
            <a:off x="1417320" y="24231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Diagnoses a condition</a:t>
            </a:r>
            <a:endParaRPr lang="en-US" sz="1600" dirty="0"/>
          </a:p>
        </p:txBody>
      </p:sp>
      <p:sp>
        <p:nvSpPr>
          <p:cNvPr id="9" name="a02_nv_283"/>
          <p:cNvSpPr/>
          <p:nvPr/>
        </p:nvSpPr>
        <p:spPr>
          <a:xfrm>
            <a:off x="868680" y="31363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0" name="a02_nv_28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3236976"/>
            <a:ext cx="182880" cy="182880"/>
          </a:xfrm>
          <a:prstGeom prst="rect">
            <a:avLst/>
          </a:prstGeom>
        </p:spPr>
      </p:pic>
      <p:sp>
        <p:nvSpPr>
          <p:cNvPr id="11" name="a02_nv_285"/>
          <p:cNvSpPr txBox="1"/>
          <p:nvPr/>
        </p:nvSpPr>
        <p:spPr>
          <a:xfrm>
            <a:off x="1417320" y="31089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Changes or suggests a medicine</a:t>
            </a:r>
            <a:endParaRPr lang="en-US" sz="1600" dirty="0"/>
          </a:p>
        </p:txBody>
      </p:sp>
      <p:sp>
        <p:nvSpPr>
          <p:cNvPr id="12" name="a02_nv_286"/>
          <p:cNvSpPr/>
          <p:nvPr/>
        </p:nvSpPr>
        <p:spPr>
          <a:xfrm>
            <a:off x="868680" y="38221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3" name="a02_nv_28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922776"/>
            <a:ext cx="182880" cy="182880"/>
          </a:xfrm>
          <a:prstGeom prst="rect">
            <a:avLst/>
          </a:prstGeom>
        </p:spPr>
      </p:pic>
      <p:sp>
        <p:nvSpPr>
          <p:cNvPr id="14" name="a02_nv_288"/>
          <p:cNvSpPr txBox="1"/>
          <p:nvPr/>
        </p:nvSpPr>
        <p:spPr>
          <a:xfrm>
            <a:off x="1417320" y="37947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Recommends a treatment</a:t>
            </a:r>
            <a:endParaRPr lang="en-US" sz="1600" dirty="0"/>
          </a:p>
        </p:txBody>
      </p:sp>
      <p:sp>
        <p:nvSpPr>
          <p:cNvPr id="15" name="a02_nv_289"/>
          <p:cNvSpPr/>
          <p:nvPr/>
        </p:nvSpPr>
        <p:spPr>
          <a:xfrm>
            <a:off x="868680" y="45079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6" name="a02_nv_29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4608576"/>
            <a:ext cx="182880" cy="182880"/>
          </a:xfrm>
          <a:prstGeom prst="rect">
            <a:avLst/>
          </a:prstGeom>
        </p:spPr>
      </p:pic>
      <p:sp>
        <p:nvSpPr>
          <p:cNvPr id="17" name="a02_nv_291"/>
          <p:cNvSpPr txBox="1"/>
          <p:nvPr/>
        </p:nvSpPr>
        <p:spPr>
          <a:xfrm>
            <a:off x="1417320" y="44805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Guarantees a provider</a:t>
            </a:r>
            <a:endParaRPr lang="en-US" sz="1600" dirty="0"/>
          </a:p>
        </p:txBody>
      </p:sp>
      <p:sp>
        <p:nvSpPr>
          <p:cNvPr id="18" name="a02_nv_292"/>
          <p:cNvSpPr/>
          <p:nvPr/>
        </p:nvSpPr>
        <p:spPr>
          <a:xfrm>
            <a:off x="868680" y="5193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9" name="a02_nv_29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5294376"/>
            <a:ext cx="182880" cy="182880"/>
          </a:xfrm>
          <a:prstGeom prst="rect">
            <a:avLst/>
          </a:prstGeom>
        </p:spPr>
      </p:pic>
      <p:sp>
        <p:nvSpPr>
          <p:cNvPr id="20" name="a02_nv_294"/>
          <p:cNvSpPr txBox="1"/>
          <p:nvPr/>
        </p:nvSpPr>
        <p:spPr>
          <a:xfrm>
            <a:off x="1417320" y="51663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Uses real patient data</a:t>
            </a:r>
            <a:endParaRPr lang="en-US" sz="1600" dirty="0"/>
          </a:p>
        </p:txBody>
      </p:sp>
      <p:sp>
        <p:nvSpPr>
          <p:cNvPr id="21" name="a03_ly_295"/>
          <p:cNvSpPr/>
          <p:nvPr/>
        </p:nvSpPr>
        <p:spPr>
          <a:xfrm>
            <a:off x="4754880" y="1554480"/>
            <a:ext cx="6858000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 w="12700">
            <a:solidFill>
              <a:srgbClr val="C9E6DF"/>
            </a:solidFill>
            <a:prstDash val="solid"/>
          </a:ln>
        </p:spPr>
      </p:sp>
      <p:sp>
        <p:nvSpPr>
          <p:cNvPr id="22" name="a03_ly_296"/>
          <p:cNvSpPr txBox="1"/>
          <p:nvPr/>
        </p:nvSpPr>
        <p:spPr>
          <a:xfrm>
            <a:off x="4892040" y="15544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3" name="a03_ly_297"/>
          <p:cNvSpPr/>
          <p:nvPr/>
        </p:nvSpPr>
        <p:spPr>
          <a:xfrm>
            <a:off x="5349240" y="1664208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a03_ly_298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9824" y="1764792"/>
            <a:ext cx="219456" cy="219456"/>
          </a:xfrm>
          <a:prstGeom prst="rect">
            <a:avLst/>
          </a:prstGeom>
        </p:spPr>
      </p:pic>
      <p:sp>
        <p:nvSpPr>
          <p:cNvPr id="25" name="a03_ly_299"/>
          <p:cNvSpPr txBox="1"/>
          <p:nvPr/>
        </p:nvSpPr>
        <p:spPr>
          <a:xfrm>
            <a:off x="5943600" y="16093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Every quote is checked</a:t>
            </a:r>
            <a:endParaRPr lang="en-US" sz="1500" dirty="0"/>
          </a:p>
        </p:txBody>
      </p:sp>
      <p:sp>
        <p:nvSpPr>
          <p:cNvPr id="26" name="a03_ly_300"/>
          <p:cNvSpPr txBox="1"/>
          <p:nvPr/>
        </p:nvSpPr>
        <p:spPr>
          <a:xfrm>
            <a:off x="5943600" y="18928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Each item must match its cited source line (85% or better)</a:t>
            </a:r>
            <a:endParaRPr lang="en-US" sz="1200" dirty="0"/>
          </a:p>
        </p:txBody>
      </p:sp>
      <p:sp>
        <p:nvSpPr>
          <p:cNvPr id="27" name="a04_ly_301"/>
          <p:cNvSpPr/>
          <p:nvPr/>
        </p:nvSpPr>
        <p:spPr>
          <a:xfrm>
            <a:off x="4754880" y="2313432"/>
            <a:ext cx="6858000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 w="12700">
            <a:solidFill>
              <a:srgbClr val="C9E6DF"/>
            </a:solidFill>
            <a:prstDash val="solid"/>
          </a:ln>
        </p:spPr>
      </p:sp>
      <p:sp>
        <p:nvSpPr>
          <p:cNvPr id="28" name="a04_ly_302"/>
          <p:cNvSpPr txBox="1"/>
          <p:nvPr/>
        </p:nvSpPr>
        <p:spPr>
          <a:xfrm>
            <a:off x="4892040" y="23134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9" name="a04_ly_303"/>
          <p:cNvSpPr/>
          <p:nvPr/>
        </p:nvSpPr>
        <p:spPr>
          <a:xfrm>
            <a:off x="5349240" y="242316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a04_ly_30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9824" y="2523744"/>
            <a:ext cx="219456" cy="219456"/>
          </a:xfrm>
          <a:prstGeom prst="rect">
            <a:avLst/>
          </a:prstGeom>
        </p:spPr>
      </p:pic>
      <p:sp>
        <p:nvSpPr>
          <p:cNvPr id="31" name="a04_ly_305"/>
          <p:cNvSpPr txBox="1"/>
          <p:nvPr/>
        </p:nvSpPr>
        <p:spPr>
          <a:xfrm>
            <a:off x="5943600" y="236829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Rules decide, the model only adds</a:t>
            </a:r>
            <a:endParaRPr lang="en-US" sz="1500" dirty="0"/>
          </a:p>
        </p:txBody>
      </p:sp>
      <p:sp>
        <p:nvSpPr>
          <p:cNvPr id="32" name="a04_ly_306"/>
          <p:cNvSpPr txBox="1"/>
          <p:nvPr/>
        </p:nvSpPr>
        <p:spPr>
          <a:xfrm>
            <a:off x="5943600" y="2651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LLM can raise a flag but can never remove one</a:t>
            </a:r>
            <a:endParaRPr lang="en-US" sz="1200" dirty="0"/>
          </a:p>
        </p:txBody>
      </p:sp>
      <p:sp>
        <p:nvSpPr>
          <p:cNvPr id="33" name="a05_ly_307"/>
          <p:cNvSpPr/>
          <p:nvPr/>
        </p:nvSpPr>
        <p:spPr>
          <a:xfrm>
            <a:off x="4754880" y="3072384"/>
            <a:ext cx="6858000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 w="12700">
            <a:solidFill>
              <a:srgbClr val="C9E6DF"/>
            </a:solidFill>
            <a:prstDash val="solid"/>
          </a:ln>
        </p:spPr>
      </p:sp>
      <p:sp>
        <p:nvSpPr>
          <p:cNvPr id="34" name="a05_ly_308"/>
          <p:cNvSpPr txBox="1"/>
          <p:nvPr/>
        </p:nvSpPr>
        <p:spPr>
          <a:xfrm>
            <a:off x="4892040" y="3072384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35" name="a05_ly_309"/>
          <p:cNvSpPr/>
          <p:nvPr/>
        </p:nvSpPr>
        <p:spPr>
          <a:xfrm>
            <a:off x="5349240" y="3182112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6" name="a05_ly_310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9824" y="3282696"/>
            <a:ext cx="219456" cy="219456"/>
          </a:xfrm>
          <a:prstGeom prst="rect">
            <a:avLst/>
          </a:prstGeom>
        </p:spPr>
      </p:pic>
      <p:sp>
        <p:nvSpPr>
          <p:cNvPr id="37" name="a05_ly_311"/>
          <p:cNvSpPr txBox="1"/>
          <p:nvPr/>
        </p:nvSpPr>
        <p:spPr>
          <a:xfrm>
            <a:off x="5943600" y="31272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Medicines never touch the LLM</a:t>
            </a:r>
            <a:endParaRPr lang="en-US" sz="1500" dirty="0"/>
          </a:p>
        </p:txBody>
      </p:sp>
      <p:sp>
        <p:nvSpPr>
          <p:cNvPr id="38" name="a05_ly_312"/>
          <p:cNvSpPr txBox="1"/>
          <p:nvPr/>
        </p:nvSpPr>
        <p:spPr>
          <a:xfrm>
            <a:off x="5943600" y="34107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 fixed template in 6 languages writes every medicine line</a:t>
            </a:r>
            <a:endParaRPr lang="en-US" sz="1200" dirty="0"/>
          </a:p>
        </p:txBody>
      </p:sp>
      <p:sp>
        <p:nvSpPr>
          <p:cNvPr id="39" name="a06_ly_313"/>
          <p:cNvSpPr/>
          <p:nvPr/>
        </p:nvSpPr>
        <p:spPr>
          <a:xfrm>
            <a:off x="4754880" y="3831336"/>
            <a:ext cx="6858000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 w="12700">
            <a:solidFill>
              <a:srgbClr val="C9E6DF"/>
            </a:solidFill>
            <a:prstDash val="solid"/>
          </a:ln>
        </p:spPr>
      </p:sp>
      <p:sp>
        <p:nvSpPr>
          <p:cNvPr id="40" name="a06_ly_314"/>
          <p:cNvSpPr txBox="1"/>
          <p:nvPr/>
        </p:nvSpPr>
        <p:spPr>
          <a:xfrm>
            <a:off x="4892040" y="3831336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1" name="a06_ly_315"/>
          <p:cNvSpPr/>
          <p:nvPr/>
        </p:nvSpPr>
        <p:spPr>
          <a:xfrm>
            <a:off x="5349240" y="3941064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2" name="a06_ly_316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49824" y="4041648"/>
            <a:ext cx="219456" cy="219456"/>
          </a:xfrm>
          <a:prstGeom prst="rect">
            <a:avLst/>
          </a:prstGeom>
        </p:spPr>
      </p:pic>
      <p:sp>
        <p:nvSpPr>
          <p:cNvPr id="43" name="a06_ly_317"/>
          <p:cNvSpPr txBox="1"/>
          <p:nvPr/>
        </p:nvSpPr>
        <p:spPr>
          <a:xfrm>
            <a:off x="5943600" y="3886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Numbers must survive translation</a:t>
            </a:r>
            <a:endParaRPr lang="en-US" sz="1500" dirty="0"/>
          </a:p>
        </p:txBody>
      </p:sp>
      <p:sp>
        <p:nvSpPr>
          <p:cNvPr id="44" name="a06_ly_318"/>
          <p:cNvSpPr txBox="1"/>
          <p:nvPr/>
        </p:nvSpPr>
        <p:spPr>
          <a:xfrm>
            <a:off x="5943600" y="4169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If a dose changes, English is shown and a doctor is asked</a:t>
            </a:r>
            <a:endParaRPr lang="en-US" sz="1200" dirty="0"/>
          </a:p>
        </p:txBody>
      </p:sp>
      <p:sp>
        <p:nvSpPr>
          <p:cNvPr id="45" name="a07_ly_319"/>
          <p:cNvSpPr/>
          <p:nvPr/>
        </p:nvSpPr>
        <p:spPr>
          <a:xfrm>
            <a:off x="4754880" y="4590288"/>
            <a:ext cx="6858000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 w="12700">
            <a:solidFill>
              <a:srgbClr val="C9E6DF"/>
            </a:solidFill>
            <a:prstDash val="solid"/>
          </a:ln>
        </p:spPr>
      </p:sp>
      <p:sp>
        <p:nvSpPr>
          <p:cNvPr id="46" name="a07_ly_320"/>
          <p:cNvSpPr txBox="1"/>
          <p:nvPr/>
        </p:nvSpPr>
        <p:spPr>
          <a:xfrm>
            <a:off x="4892040" y="4590288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7" name="a07_ly_321"/>
          <p:cNvSpPr/>
          <p:nvPr/>
        </p:nvSpPr>
        <p:spPr>
          <a:xfrm>
            <a:off x="5349240" y="470001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8" name="a07_ly_322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49824" y="4800600"/>
            <a:ext cx="219456" cy="219456"/>
          </a:xfrm>
          <a:prstGeom prst="rect">
            <a:avLst/>
          </a:prstGeom>
        </p:spPr>
      </p:pic>
      <p:sp>
        <p:nvSpPr>
          <p:cNvPr id="49" name="a07_ly_323"/>
          <p:cNvSpPr txBox="1"/>
          <p:nvPr/>
        </p:nvSpPr>
        <p:spPr>
          <a:xfrm>
            <a:off x="5943600" y="46451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Doctor corrections are re-checked</a:t>
            </a:r>
            <a:endParaRPr lang="en-US" sz="1500" dirty="0"/>
          </a:p>
        </p:txBody>
      </p:sp>
      <p:sp>
        <p:nvSpPr>
          <p:cNvPr id="50" name="a07_ly_324"/>
          <p:cNvSpPr txBox="1"/>
          <p:nvPr/>
        </p:nvSpPr>
        <p:spPr>
          <a:xfrm>
            <a:off x="5943600" y="4928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 still-unclear medicine edit is refused</a:t>
            </a:r>
            <a:endParaRPr lang="en-US" sz="1200" dirty="0"/>
          </a:p>
        </p:txBody>
      </p:sp>
      <p:sp>
        <p:nvSpPr>
          <p:cNvPr id="51" name="a08_ly_325"/>
          <p:cNvSpPr/>
          <p:nvPr/>
        </p:nvSpPr>
        <p:spPr>
          <a:xfrm>
            <a:off x="4754880" y="5349240"/>
            <a:ext cx="6858000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 w="12700">
            <a:solidFill>
              <a:srgbClr val="C9E6DF"/>
            </a:solidFill>
            <a:prstDash val="solid"/>
          </a:ln>
        </p:spPr>
      </p:sp>
      <p:sp>
        <p:nvSpPr>
          <p:cNvPr id="52" name="a08_ly_326"/>
          <p:cNvSpPr txBox="1"/>
          <p:nvPr/>
        </p:nvSpPr>
        <p:spPr>
          <a:xfrm>
            <a:off x="4892040" y="53492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53" name="a08_ly_327"/>
          <p:cNvSpPr/>
          <p:nvPr/>
        </p:nvSpPr>
        <p:spPr>
          <a:xfrm>
            <a:off x="5349240" y="5458968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4" name="a08_ly_328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49824" y="5559552"/>
            <a:ext cx="219456" cy="219456"/>
          </a:xfrm>
          <a:prstGeom prst="rect">
            <a:avLst/>
          </a:prstGeom>
        </p:spPr>
      </p:pic>
      <p:sp>
        <p:nvSpPr>
          <p:cNvPr id="55" name="a08_ly_329"/>
          <p:cNvSpPr txBox="1"/>
          <p:nvPr/>
        </p:nvSpPr>
        <p:spPr>
          <a:xfrm>
            <a:off x="5943600" y="540410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Fail safe for the patient</a:t>
            </a:r>
            <a:endParaRPr lang="en-US" sz="1500" dirty="0"/>
          </a:p>
        </p:txBody>
      </p:sp>
      <p:sp>
        <p:nvSpPr>
          <p:cNvPr id="56" name="a08_ly_330"/>
          <p:cNvSpPr txBox="1"/>
          <p:nvPr/>
        </p:nvSpPr>
        <p:spPr>
          <a:xfrm>
            <a:off x="5943600" y="56875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Locked card: "Your care team will confirm this"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65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" dur="450"/>
                                              <p:tgtEl>
                                                <p:spTgt spid="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" dur="450"/>
                                              <p:tgtEl>
                                                <p:spTgt spid="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7" fill="hold">
                                  <p:stCondLst>
                                    <p:cond delay="380"/>
                                  </p:stCondLst>
                                  <p:childTnLst>
                                    <p:par>
                                      <p:cTn id="1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4" dur="450"/>
                                              <p:tgtEl>
                                                <p:spTgt spid="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5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7" dur="450"/>
                                              <p:tgtEl>
                                                <p:spTgt spid="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0" dur="450"/>
                                              <p:tgtEl>
                                                <p:spTgt spid="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3" dur="450"/>
                                              <p:tgtEl>
                                                <p:spTgt spid="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4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6" dur="450"/>
                                              <p:tgtEl>
                                                <p:spTgt spid="1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9" dur="45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30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2" dur="45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33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5" dur="45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36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8" dur="45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39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1" dur="45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4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4" dur="45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45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7" dur="45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4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0" dur="45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5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3" dur="45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54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6" dur="45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760"/>
                                  </p:stCondLst>
                                  <p:childTnLst>
                                    <p:par>
                                      <p:cTn id="58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0" dur="45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6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3" dur="450"/>
                                              <p:tgtEl>
                                                <p:spTgt spid="2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64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6" dur="45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6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9" dur="450"/>
                                              <p:tgtEl>
                                                <p:spTgt spid="2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70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2" dur="450"/>
                                              <p:tgtEl>
                                                <p:spTgt spid="2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73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5" dur="450"/>
                                              <p:tgtEl>
                                                <p:spTgt spid="2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1140"/>
                                  </p:stCondLst>
                                  <p:childTnLst>
                                    <p:par>
                                      <p:cTn id="77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9" dur="450"/>
                                              <p:tgtEl>
                                                <p:spTgt spid="2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80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2" dur="450"/>
                                              <p:tgtEl>
                                                <p:spTgt spid="2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83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5" dur="450"/>
                                              <p:tgtEl>
                                                <p:spTgt spid="2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86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8" dur="450"/>
                                              <p:tgtEl>
                                                <p:spTgt spid="3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89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1" dur="450"/>
                                              <p:tgtEl>
                                                <p:spTgt spid="3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9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4" dur="450"/>
                                              <p:tgtEl>
                                                <p:spTgt spid="3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4" fill="hold">
                                  <p:stCondLst>
                                    <p:cond delay="1520"/>
                                  </p:stCondLst>
                                  <p:childTnLst>
                                    <p:par>
                                      <p:cTn id="96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8" dur="450"/>
                                              <p:tgtEl>
                                                <p:spTgt spid="3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99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1" dur="450"/>
                                              <p:tgtEl>
                                                <p:spTgt spid="3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0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4" dur="450"/>
                                              <p:tgtEl>
                                                <p:spTgt spid="3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05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7" dur="450"/>
                                              <p:tgtEl>
                                                <p:spTgt spid="3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0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0" dur="450"/>
                                              <p:tgtEl>
                                                <p:spTgt spid="3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1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3" dur="450"/>
                                              <p:tgtEl>
                                                <p:spTgt spid="3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33" fill="hold">
                                  <p:stCondLst>
                                    <p:cond delay="1900"/>
                                  </p:stCondLst>
                                  <p:childTnLst>
                                    <p:par>
                                      <p:cTn id="115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7" dur="450"/>
                                              <p:tgtEl>
                                                <p:spTgt spid="3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1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0" dur="450"/>
                                              <p:tgtEl>
                                                <p:spTgt spid="4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2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3" dur="450"/>
                                              <p:tgtEl>
                                                <p:spTgt spid="4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24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6" dur="450"/>
                                              <p:tgtEl>
                                                <p:spTgt spid="4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2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9" dur="450"/>
                                              <p:tgtEl>
                                                <p:spTgt spid="4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30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2" dur="450"/>
                                              <p:tgtEl>
                                                <p:spTgt spid="4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52" fill="hold">
                                  <p:stCondLst>
                                    <p:cond delay="2280"/>
                                  </p:stCondLst>
                                  <p:childTnLst>
                                    <p:par>
                                      <p:cTn id="134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6" dur="450"/>
                                              <p:tgtEl>
                                                <p:spTgt spid="4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3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9" dur="450"/>
                                              <p:tgtEl>
                                                <p:spTgt spid="4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40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4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42" dur="450"/>
                                              <p:tgtEl>
                                                <p:spTgt spid="4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43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4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45" dur="450"/>
                                              <p:tgtEl>
                                                <p:spTgt spid="4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46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4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48" dur="450"/>
                                              <p:tgtEl>
                                                <p:spTgt spid="4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49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51" dur="450"/>
                                              <p:tgtEl>
                                                <p:spTgt spid="5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71" fill="hold">
                                  <p:stCondLst>
                                    <p:cond delay="2660"/>
                                  </p:stCondLst>
                                  <p:childTnLst>
                                    <p:par>
                                      <p:cTn id="153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55" dur="450"/>
                                              <p:tgtEl>
                                                <p:spTgt spid="5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56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58" dur="450"/>
                                              <p:tgtEl>
                                                <p:spTgt spid="5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59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6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1" dur="450"/>
                                              <p:tgtEl>
                                                <p:spTgt spid="5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6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6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4" dur="450"/>
                                              <p:tgtEl>
                                                <p:spTgt spid="5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65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6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7" dur="450"/>
                                              <p:tgtEl>
                                                <p:spTgt spid="5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6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6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70" dur="450"/>
                                              <p:tgtEl>
                                                <p:spTgt spid="5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5" grpId="0" animBg="1"/>
      <p:bldP spid="5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USER JOURNEY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One plan, four views, each with the right access</a:t>
            </a:r>
            <a:endParaRPr lang="en-US" sz="3200" dirty="0"/>
          </a:p>
        </p:txBody>
      </p:sp>
      <p:sp>
        <p:nvSpPr>
          <p:cNvPr id="4" name="a01_v_331"/>
          <p:cNvSpPr/>
          <p:nvPr/>
        </p:nvSpPr>
        <p:spPr>
          <a:xfrm>
            <a:off x="548640" y="1554480"/>
            <a:ext cx="2633472" cy="306324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12700">
            <a:solidFill>
              <a:srgbClr val="C9E6DF"/>
            </a:solidFill>
            <a:prstDash val="solid"/>
          </a:ln>
        </p:spPr>
      </p:sp>
      <p:sp>
        <p:nvSpPr>
          <p:cNvPr id="5" name="a01_v_332"/>
          <p:cNvSpPr/>
          <p:nvPr/>
        </p:nvSpPr>
        <p:spPr>
          <a:xfrm>
            <a:off x="777240" y="1755648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a01_v_33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920240"/>
            <a:ext cx="356616" cy="356616"/>
          </a:xfrm>
          <a:prstGeom prst="rect">
            <a:avLst/>
          </a:prstGeom>
        </p:spPr>
      </p:pic>
      <p:sp>
        <p:nvSpPr>
          <p:cNvPr id="7" name="a01_v_334"/>
          <p:cNvSpPr txBox="1"/>
          <p:nvPr/>
        </p:nvSpPr>
        <p:spPr>
          <a:xfrm>
            <a:off x="1572768" y="1755648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</a:t>
            </a:r>
            <a:endParaRPr lang="en-US" sz="1700" dirty="0"/>
          </a:p>
        </p:txBody>
      </p:sp>
      <p:sp>
        <p:nvSpPr>
          <p:cNvPr id="8" name="a01_v_335"/>
          <p:cNvSpPr txBox="1"/>
          <p:nvPr/>
        </p:nvSpPr>
        <p:spPr>
          <a:xfrm>
            <a:off x="777240" y="260604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2"/>
                </a:solidFill>
              </a:rPr>
              <a:t>Today: medicines by morning, afternoon, night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2"/>
                </a:solidFill>
              </a:rPr>
              <a:t>Next visit and chosen provider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2"/>
                </a:solidFill>
              </a:rPr>
              <a:t>Listen in their own language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2"/>
                </a:solidFill>
              </a:rPr>
              <a:t>Ask a doctor, request a callback</a:t>
            </a:r>
            <a:endParaRPr lang="en-US" sz="1350" dirty="0"/>
          </a:p>
        </p:txBody>
      </p:sp>
      <p:sp>
        <p:nvSpPr>
          <p:cNvPr id="9" name="a02_v_336"/>
          <p:cNvSpPr/>
          <p:nvPr/>
        </p:nvSpPr>
        <p:spPr>
          <a:xfrm>
            <a:off x="3364992" y="1554480"/>
            <a:ext cx="2633472" cy="306324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12700">
            <a:solidFill>
              <a:srgbClr val="C9E6DF"/>
            </a:solidFill>
            <a:prstDash val="solid"/>
          </a:ln>
        </p:spPr>
      </p:sp>
      <p:sp>
        <p:nvSpPr>
          <p:cNvPr id="10" name="a02_v_337"/>
          <p:cNvSpPr/>
          <p:nvPr/>
        </p:nvSpPr>
        <p:spPr>
          <a:xfrm>
            <a:off x="3593592" y="1755648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a02_v_33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184" y="1920240"/>
            <a:ext cx="356616" cy="356616"/>
          </a:xfrm>
          <a:prstGeom prst="rect">
            <a:avLst/>
          </a:prstGeom>
        </p:spPr>
      </p:pic>
      <p:sp>
        <p:nvSpPr>
          <p:cNvPr id="12" name="a02_v_339"/>
          <p:cNvSpPr txBox="1"/>
          <p:nvPr/>
        </p:nvSpPr>
        <p:spPr>
          <a:xfrm>
            <a:off x="4389120" y="1755648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</a:t>
            </a:r>
            <a:endParaRPr lang="en-US" sz="1700" dirty="0"/>
          </a:p>
        </p:txBody>
      </p:sp>
      <p:sp>
        <p:nvSpPr>
          <p:cNvPr id="13" name="a02_v_340"/>
          <p:cNvSpPr txBox="1"/>
          <p:nvPr/>
        </p:nvSpPr>
        <p:spPr>
          <a:xfrm>
            <a:off x="3593592" y="260604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2"/>
                </a:solidFill>
              </a:rPr>
              <a:t>Joins a family hub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2"/>
                </a:solidFill>
              </a:rPr>
              <a:t>Sees only what the patient shares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2"/>
                </a:solidFill>
              </a:rPr>
              <a:t>Alert when a task is 24 h late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2"/>
                </a:solidFill>
              </a:rPr>
              <a:t>Locked cards hide clinical text</a:t>
            </a:r>
            <a:endParaRPr lang="en-US" sz="1350" dirty="0"/>
          </a:p>
        </p:txBody>
      </p:sp>
      <p:sp>
        <p:nvSpPr>
          <p:cNvPr id="14" name="a03_v_341"/>
          <p:cNvSpPr/>
          <p:nvPr/>
        </p:nvSpPr>
        <p:spPr>
          <a:xfrm>
            <a:off x="6181344" y="1554480"/>
            <a:ext cx="2633472" cy="306324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12700">
            <a:solidFill>
              <a:srgbClr val="C9E6DF"/>
            </a:solidFill>
            <a:prstDash val="solid"/>
          </a:ln>
        </p:spPr>
      </p:sp>
      <p:sp>
        <p:nvSpPr>
          <p:cNvPr id="15" name="a03_v_342"/>
          <p:cNvSpPr/>
          <p:nvPr/>
        </p:nvSpPr>
        <p:spPr>
          <a:xfrm>
            <a:off x="6409944" y="1755648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a03_v_34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1920240"/>
            <a:ext cx="356616" cy="356616"/>
          </a:xfrm>
          <a:prstGeom prst="rect">
            <a:avLst/>
          </a:prstGeom>
        </p:spPr>
      </p:pic>
      <p:sp>
        <p:nvSpPr>
          <p:cNvPr id="17" name="a03_v_344"/>
          <p:cNvSpPr txBox="1"/>
          <p:nvPr/>
        </p:nvSpPr>
        <p:spPr>
          <a:xfrm>
            <a:off x="7205472" y="1755648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</a:t>
            </a:r>
            <a:endParaRPr lang="en-US" sz="1700" dirty="0"/>
          </a:p>
        </p:txBody>
      </p:sp>
      <p:sp>
        <p:nvSpPr>
          <p:cNvPr id="18" name="a03_v_345"/>
          <p:cNvSpPr txBox="1"/>
          <p:nvPr/>
        </p:nvSpPr>
        <p:spPr>
          <a:xfrm>
            <a:off x="6409944" y="260604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2"/>
                </a:solidFill>
              </a:rPr>
              <a:t>Queue routed by specialty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2"/>
                </a:solidFill>
              </a:rPr>
              <a:t>Source line beside each item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2"/>
                </a:solidFill>
              </a:rPr>
              <a:t>Confirm, Correct, Send back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2"/>
                </a:solidFill>
              </a:rPr>
              <a:t>Backup doctor when away</a:t>
            </a:r>
            <a:endParaRPr lang="en-US" sz="1350" dirty="0"/>
          </a:p>
        </p:txBody>
      </p:sp>
      <p:sp>
        <p:nvSpPr>
          <p:cNvPr id="19" name="a04_v_346"/>
          <p:cNvSpPr/>
          <p:nvPr/>
        </p:nvSpPr>
        <p:spPr>
          <a:xfrm>
            <a:off x="8997696" y="1554480"/>
            <a:ext cx="2633472" cy="306324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12700">
            <a:solidFill>
              <a:srgbClr val="C9E6DF"/>
            </a:solidFill>
            <a:prstDash val="solid"/>
          </a:ln>
        </p:spPr>
      </p:sp>
      <p:sp>
        <p:nvSpPr>
          <p:cNvPr id="20" name="a04_v_347"/>
          <p:cNvSpPr/>
          <p:nvPr/>
        </p:nvSpPr>
        <p:spPr>
          <a:xfrm>
            <a:off x="9226296" y="1755648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a04_v_34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888" y="1920240"/>
            <a:ext cx="356616" cy="356616"/>
          </a:xfrm>
          <a:prstGeom prst="rect">
            <a:avLst/>
          </a:prstGeom>
        </p:spPr>
      </p:pic>
      <p:sp>
        <p:nvSpPr>
          <p:cNvPr id="22" name="a04_v_349"/>
          <p:cNvSpPr txBox="1"/>
          <p:nvPr/>
        </p:nvSpPr>
        <p:spPr>
          <a:xfrm>
            <a:off x="10021824" y="1755648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700" dirty="0"/>
          </a:p>
        </p:txBody>
      </p:sp>
      <p:sp>
        <p:nvSpPr>
          <p:cNvPr id="23" name="a04_v_350"/>
          <p:cNvSpPr txBox="1"/>
          <p:nvPr/>
        </p:nvSpPr>
        <p:spPr>
          <a:xfrm>
            <a:off x="9226296" y="260604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2"/>
                </a:solidFill>
              </a:rPr>
              <a:t>8 KPIs and 4 charts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2"/>
                </a:solidFill>
              </a:rPr>
              <a:t>Reassign reviews in bulk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2"/>
                </a:solidFill>
              </a:rPr>
              <a:t>Audit log with CSV export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2"/>
                </a:solidFill>
              </a:rPr>
              <a:t>Never sees clinical text</a:t>
            </a:r>
            <a:endParaRPr lang="en-US" sz="1350" dirty="0"/>
          </a:p>
        </p:txBody>
      </p:sp>
      <p:sp>
        <p:nvSpPr>
          <p:cNvPr id="24" name="a05_tl_351"/>
          <p:cNvSpPr txBox="1"/>
          <p:nvPr/>
        </p:nvSpPr>
        <p:spPr>
          <a:xfrm>
            <a:off x="548640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WHEN A TASK IS MISSED</a:t>
            </a:r>
            <a:endParaRPr lang="en-US" sz="1100" dirty="0"/>
          </a:p>
        </p:txBody>
      </p:sp>
      <p:sp>
        <p:nvSpPr>
          <p:cNvPr id="25" name="a05w_tl_352"/>
          <p:cNvSpPr/>
          <p:nvPr/>
        </p:nvSpPr>
        <p:spPr>
          <a:xfrm>
            <a:off x="914400" y="5577840"/>
            <a:ext cx="10332720" cy="0"/>
          </a:xfrm>
          <a:prstGeom prst="line">
            <a:avLst/>
          </a:prstGeom>
          <a:noFill/>
          <a:ln w="38100">
            <a:solidFill>
              <a:srgbClr val="C9E6DF"/>
            </a:solidFill>
            <a:prstDash val="solid"/>
          </a:ln>
        </p:spPr>
      </p:sp>
      <p:sp>
        <p:nvSpPr>
          <p:cNvPr id="26" name="a06_tl_353"/>
          <p:cNvSpPr/>
          <p:nvPr/>
        </p:nvSpPr>
        <p:spPr>
          <a:xfrm>
            <a:off x="731520" y="5394960"/>
            <a:ext cx="365760" cy="365760"/>
          </a:xfrm>
          <a:prstGeom prst="ellipse">
            <a:avLst/>
          </a:prstGeom>
          <a:solidFill>
            <a:srgbClr val="0E7C7B"/>
          </a:solidFill>
          <a:ln w="25400">
            <a:solidFill>
              <a:srgbClr val="F6FCFA"/>
            </a:solidFill>
            <a:prstDash val="solid"/>
          </a:ln>
        </p:spPr>
      </p:sp>
      <p:sp>
        <p:nvSpPr>
          <p:cNvPr id="27" name="a06_tl_354"/>
          <p:cNvSpPr txBox="1"/>
          <p:nvPr/>
        </p:nvSpPr>
        <p:spPr>
          <a:xfrm>
            <a:off x="1188720" y="5394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Due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Task is due</a:t>
            </a:r>
            <a:endParaRPr lang="en-US" sz="1600" dirty="0"/>
          </a:p>
        </p:txBody>
      </p:sp>
      <p:sp>
        <p:nvSpPr>
          <p:cNvPr id="28" name="a07_tl_355"/>
          <p:cNvSpPr/>
          <p:nvPr/>
        </p:nvSpPr>
        <p:spPr>
          <a:xfrm>
            <a:off x="3749040" y="5394960"/>
            <a:ext cx="365760" cy="365760"/>
          </a:xfrm>
          <a:prstGeom prst="ellipse">
            <a:avLst/>
          </a:prstGeom>
          <a:solidFill>
            <a:srgbClr val="5ED6C3"/>
          </a:solidFill>
          <a:ln w="25400">
            <a:solidFill>
              <a:srgbClr val="F6FCFA"/>
            </a:solidFill>
            <a:prstDash val="solid"/>
          </a:ln>
        </p:spPr>
      </p:sp>
      <p:sp>
        <p:nvSpPr>
          <p:cNvPr id="29" name="a07_tl_356"/>
          <p:cNvSpPr txBox="1"/>
          <p:nvPr/>
        </p:nvSpPr>
        <p:spPr>
          <a:xfrm>
            <a:off x="4206240" y="5394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+6 h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Reminder to patient</a:t>
            </a:r>
            <a:endParaRPr lang="en-US" sz="1600" dirty="0"/>
          </a:p>
        </p:txBody>
      </p:sp>
      <p:sp>
        <p:nvSpPr>
          <p:cNvPr id="30" name="a08_tl_357"/>
          <p:cNvSpPr/>
          <p:nvPr/>
        </p:nvSpPr>
        <p:spPr>
          <a:xfrm>
            <a:off x="6766560" y="5394960"/>
            <a:ext cx="365760" cy="365760"/>
          </a:xfrm>
          <a:prstGeom prst="ellipse">
            <a:avLst/>
          </a:prstGeom>
          <a:solidFill>
            <a:srgbClr val="8DC63F"/>
          </a:solidFill>
          <a:ln w="25400">
            <a:solidFill>
              <a:srgbClr val="F6FCFA"/>
            </a:solidFill>
            <a:prstDash val="solid"/>
          </a:ln>
        </p:spPr>
      </p:sp>
      <p:sp>
        <p:nvSpPr>
          <p:cNvPr id="31" name="a08_tl_358"/>
          <p:cNvSpPr txBox="1"/>
          <p:nvPr/>
        </p:nvSpPr>
        <p:spPr>
          <a:xfrm>
            <a:off x="7223760" y="5394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+24 h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Alert to family</a:t>
            </a:r>
            <a:endParaRPr lang="en-US" sz="1600" dirty="0"/>
          </a:p>
        </p:txBody>
      </p:sp>
      <p:sp>
        <p:nvSpPr>
          <p:cNvPr id="32" name="a09_tl_359"/>
          <p:cNvSpPr/>
          <p:nvPr/>
        </p:nvSpPr>
        <p:spPr>
          <a:xfrm>
            <a:off x="9784080" y="5394960"/>
            <a:ext cx="365760" cy="365760"/>
          </a:xfrm>
          <a:prstGeom prst="ellipse">
            <a:avLst/>
          </a:prstGeom>
          <a:solidFill>
            <a:srgbClr val="B5452F"/>
          </a:solidFill>
          <a:ln w="25400">
            <a:solidFill>
              <a:srgbClr val="F6FCFA"/>
            </a:solidFill>
            <a:prstDash val="solid"/>
          </a:ln>
        </p:spPr>
      </p:sp>
      <p:sp>
        <p:nvSpPr>
          <p:cNvPr id="33" name="a09_tl_360"/>
          <p:cNvSpPr txBox="1"/>
          <p:nvPr/>
        </p:nvSpPr>
        <p:spPr>
          <a:xfrm>
            <a:off x="10241280" y="5394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+48 h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Doctor review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65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" dur="450"/>
                                              <p:tgtEl>
                                                <p:spTgt spid="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" dur="450"/>
                                              <p:tgtEl>
                                                <p:spTgt spid="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" dur="450"/>
                                              <p:tgtEl>
                                                <p:spTgt spid="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4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" dur="450"/>
                                              <p:tgtEl>
                                                <p:spTgt spid="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9" dur="450"/>
                                              <p:tgtEl>
                                                <p:spTgt spid="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6" fill="hold">
                                  <p:stCondLst>
                                    <p:cond delay="380"/>
                                  </p:stCondLst>
                                  <p:childTnLst>
                                    <p:par>
                                      <p:cTn id="21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3" dur="450"/>
                                              <p:tgtEl>
                                                <p:spTgt spid="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4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6" dur="450"/>
                                              <p:tgtEl>
                                                <p:spTgt spid="1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9" dur="45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30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2" dur="45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33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5" dur="45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2" fill="hold">
                                  <p:stCondLst>
                                    <p:cond delay="760"/>
                                  </p:stCondLst>
                                  <p:childTnLst>
                                    <p:par>
                                      <p:cTn id="37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9" dur="45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40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2" dur="45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43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5" dur="45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46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8" dur="45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49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1" dur="45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8" fill="hold">
                                  <p:stCondLst>
                                    <p:cond delay="1140"/>
                                  </p:stCondLst>
                                  <p:childTnLst>
                                    <p:par>
                                      <p:cTn id="53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5" dur="45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56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8" dur="45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59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1" dur="45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6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4" dur="450"/>
                                              <p:tgtEl>
                                                <p:spTgt spid="2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65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7" dur="45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5" fill="hold">
                                  <p:stCondLst>
                                    <p:cond delay="1520"/>
                                  </p:stCondLst>
                                  <p:childTnLst>
                                    <p:par>
                                      <p:cTn id="69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1" dur="450"/>
                                              <p:tgtEl>
                                                <p:spTgt spid="2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72" presetID="22" presetClass="entr" presetSubtype="8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wipe(left)">
                                            <p:cBhvr>
                                              <p:cTn id="74" dur="450"/>
                                              <p:tgtEl>
                                                <p:spTgt spid="2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2" fill="hold">
                                  <p:stCondLst>
                                    <p:cond delay="1900"/>
                                  </p:stCondLst>
                                  <p:childTnLst>
                                    <p:par>
                                      <p:cTn id="76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8" dur="450"/>
                                              <p:tgtEl>
                                                <p:spTgt spid="2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79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1" dur="450"/>
                                              <p:tgtEl>
                                                <p:spTgt spid="2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9" fill="hold">
                                  <p:stCondLst>
                                    <p:cond delay="2280"/>
                                  </p:stCondLst>
                                  <p:childTnLst>
                                    <p:par>
                                      <p:cTn id="83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5" dur="450"/>
                                              <p:tgtEl>
                                                <p:spTgt spid="2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86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8" dur="450"/>
                                              <p:tgtEl>
                                                <p:spTgt spid="2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6" fill="hold">
                                  <p:stCondLst>
                                    <p:cond delay="2660"/>
                                  </p:stCondLst>
                                  <p:childTnLst>
                                    <p:par>
                                      <p:cTn id="90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2" dur="450"/>
                                              <p:tgtEl>
                                                <p:spTgt spid="3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93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5" dur="450"/>
                                              <p:tgtEl>
                                                <p:spTgt spid="3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03" fill="hold">
                                  <p:stCondLst>
                                    <p:cond delay="3040"/>
                                  </p:stCondLst>
                                  <p:childTnLst>
                                    <p:par>
                                      <p:cTn id="97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9" dur="450"/>
                                              <p:tgtEl>
                                                <p:spTgt spid="3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00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2" dur="450"/>
                                              <p:tgtEl>
                                                <p:spTgt spid="3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BUSINESS VALUE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Value for every stakeholder in the discharge</a:t>
            </a:r>
            <a:endParaRPr lang="en-US" sz="3200" dirty="0"/>
          </a:p>
        </p:txBody>
      </p:sp>
      <p:sp>
        <p:nvSpPr>
          <p:cNvPr id="4" name="a01_bv_361"/>
          <p:cNvSpPr/>
          <p:nvPr/>
        </p:nvSpPr>
        <p:spPr>
          <a:xfrm>
            <a:off x="548640" y="1554480"/>
            <a:ext cx="3566160" cy="352044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12700">
            <a:solidFill>
              <a:srgbClr val="C9E6DF"/>
            </a:solidFill>
            <a:prstDash val="solid"/>
          </a:ln>
        </p:spPr>
      </p:sp>
      <p:pic>
        <p:nvPicPr>
          <p:cNvPr id="5" name="a01_bv_36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28800"/>
            <a:ext cx="685800" cy="685800"/>
          </a:xfrm>
          <a:prstGeom prst="rect">
            <a:avLst/>
          </a:prstGeom>
        </p:spPr>
      </p:pic>
      <p:sp>
        <p:nvSpPr>
          <p:cNvPr id="6" name="a01_bv_363"/>
          <p:cNvSpPr txBox="1"/>
          <p:nvPr/>
        </p:nvSpPr>
        <p:spPr>
          <a:xfrm>
            <a:off x="868680" y="2651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2200" dirty="0"/>
          </a:p>
        </p:txBody>
      </p:sp>
      <p:sp>
        <p:nvSpPr>
          <p:cNvPr id="7" name="a01_bv_364"/>
          <p:cNvSpPr txBox="1"/>
          <p:nvPr/>
        </p:nvSpPr>
        <p:spPr>
          <a:xfrm>
            <a:off x="868680" y="32004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Fewer missed follow-ups, lower readmission risk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Audit trail for every agent and human action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Works on the discharge summaries they already write</a:t>
            </a:r>
            <a:endParaRPr lang="en-US" sz="1400" dirty="0"/>
          </a:p>
        </p:txBody>
      </p:sp>
      <p:sp>
        <p:nvSpPr>
          <p:cNvPr id="8" name="a02_bv_365"/>
          <p:cNvSpPr/>
          <p:nvPr/>
        </p:nvSpPr>
        <p:spPr>
          <a:xfrm>
            <a:off x="4297680" y="1554480"/>
            <a:ext cx="3566160" cy="3520440"/>
          </a:xfrm>
          <a:prstGeom prst="roundRect">
            <a:avLst>
              <a:gd name="adj" fmla="val 311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a02_bv_36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828800"/>
            <a:ext cx="685800" cy="685800"/>
          </a:xfrm>
          <a:prstGeom prst="rect">
            <a:avLst/>
          </a:prstGeom>
        </p:spPr>
      </p:pic>
      <p:sp>
        <p:nvSpPr>
          <p:cNvPr id="10" name="a02_bv_367"/>
          <p:cNvSpPr txBox="1"/>
          <p:nvPr/>
        </p:nvSpPr>
        <p:spPr>
          <a:xfrm>
            <a:off x="4617720" y="2651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Doctors</a:t>
            </a:r>
            <a:endParaRPr lang="en-US" sz="2200" dirty="0"/>
          </a:p>
        </p:txBody>
      </p:sp>
      <p:sp>
        <p:nvSpPr>
          <p:cNvPr id="11" name="a02_bv_368"/>
          <p:cNvSpPr txBox="1"/>
          <p:nvPr/>
        </p:nvSpPr>
        <p:spPr>
          <a:xfrm>
            <a:off x="4617720" y="32004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Review only what is flagged, not every line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Source line shown beside each item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Smart routing with a backup when away</a:t>
            </a:r>
            <a:endParaRPr lang="en-US" sz="1400" dirty="0"/>
          </a:p>
        </p:txBody>
      </p:sp>
      <p:sp>
        <p:nvSpPr>
          <p:cNvPr id="12" name="a03_bv_369"/>
          <p:cNvSpPr/>
          <p:nvPr/>
        </p:nvSpPr>
        <p:spPr>
          <a:xfrm>
            <a:off x="8046720" y="1554480"/>
            <a:ext cx="3566160" cy="352044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12700">
            <a:solidFill>
              <a:srgbClr val="C9E6DF"/>
            </a:solidFill>
            <a:prstDash val="solid"/>
          </a:ln>
        </p:spPr>
      </p:sp>
      <p:pic>
        <p:nvPicPr>
          <p:cNvPr id="13" name="a03_bv_37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828800"/>
            <a:ext cx="685800" cy="685800"/>
          </a:xfrm>
          <a:prstGeom prst="rect">
            <a:avLst/>
          </a:prstGeom>
        </p:spPr>
      </p:pic>
      <p:sp>
        <p:nvSpPr>
          <p:cNvPr id="14" name="a03_bv_371"/>
          <p:cNvSpPr txBox="1"/>
          <p:nvPr/>
        </p:nvSpPr>
        <p:spPr>
          <a:xfrm>
            <a:off x="8366760" y="2651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&amp; families</a:t>
            </a:r>
            <a:endParaRPr lang="en-US" sz="2200" dirty="0"/>
          </a:p>
        </p:txBody>
      </p:sp>
      <p:sp>
        <p:nvSpPr>
          <p:cNvPr id="15" name="a03_bv_372"/>
          <p:cNvSpPr txBox="1"/>
          <p:nvPr/>
        </p:nvSpPr>
        <p:spPr>
          <a:xfrm>
            <a:off x="8366760" y="32004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One clear plan in their own language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Reminders and alerts before things slip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Nearby providers, with reasons</a:t>
            </a:r>
            <a:endParaRPr lang="en-US" sz="1400" dirty="0"/>
          </a:p>
        </p:txBody>
      </p:sp>
      <p:sp>
        <p:nvSpPr>
          <p:cNvPr id="16" name="a04_fit_373"/>
          <p:cNvSpPr/>
          <p:nvPr/>
        </p:nvSpPr>
        <p:spPr>
          <a:xfrm>
            <a:off x="548640" y="530352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7" name="a04_fit_37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486400"/>
            <a:ext cx="411480" cy="411480"/>
          </a:xfrm>
          <a:prstGeom prst="rect">
            <a:avLst/>
          </a:prstGeom>
        </p:spPr>
      </p:pic>
      <p:sp>
        <p:nvSpPr>
          <p:cNvPr id="18" name="a04_fit_375"/>
          <p:cNvSpPr txBox="1"/>
          <p:nvPr/>
        </p:nvSpPr>
        <p:spPr>
          <a:xfrm>
            <a:off x="1371600" y="5303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Where it fits: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hospital discharge desks  ·  insurer care-management programs  ·  home-care networks  ·  telehealth follow-up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65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" dur="450"/>
                                              <p:tgtEl>
                                                <p:spTgt spid="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" dur="450"/>
                                              <p:tgtEl>
                                                <p:spTgt spid="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" dur="450"/>
                                              <p:tgtEl>
                                                <p:spTgt spid="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4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" dur="450"/>
                                              <p:tgtEl>
                                                <p:spTgt spid="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380"/>
                                  </p:stCondLst>
                                  <p:childTnLst>
                                    <p:par>
                                      <p:cTn id="18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0" dur="450"/>
                                              <p:tgtEl>
                                                <p:spTgt spid="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3" dur="450"/>
                                              <p:tgtEl>
                                                <p:spTgt spid="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4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6" dur="450"/>
                                              <p:tgtEl>
                                                <p:spTgt spid="1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9" dur="45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3" fill="hold">
                                  <p:stCondLst>
                                    <p:cond delay="760"/>
                                  </p:stCondLst>
                                  <p:childTnLst>
                                    <p:par>
                                      <p:cTn id="31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3" dur="45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34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6" dur="45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3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9" dur="45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40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2" dur="45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3" fill="hold">
                                  <p:stCondLst>
                                    <p:cond delay="1140"/>
                                  </p:stCondLst>
                                  <p:childTnLst>
                                    <p:par>
                                      <p:cTn id="44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6" dur="45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4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9" dur="45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50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2" dur="45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VALUE PROPOSITION &amp; IMPACT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Nothing missed, nothing unclear unchecked</a:t>
            </a:r>
            <a:endParaRPr lang="en-US" sz="3200" dirty="0"/>
          </a:p>
        </p:txBody>
      </p:sp>
      <p:sp>
        <p:nvSpPr>
          <p:cNvPr id="4" name="a01_vp_376"/>
          <p:cNvSpPr/>
          <p:nvPr/>
        </p:nvSpPr>
        <p:spPr>
          <a:xfrm>
            <a:off x="548640" y="1600200"/>
            <a:ext cx="5120640" cy="4480560"/>
          </a:xfrm>
          <a:prstGeom prst="roundRect">
            <a:avLst>
              <a:gd name="adj" fmla="val 2449"/>
            </a:avLst>
          </a:prstGeom>
          <a:solidFill>
            <a:schemeClr val="accent6"/>
          </a:solidFill>
          <a:ln w="12700">
            <a:solidFill>
              <a:srgbClr val="1F5A55"/>
            </a:solidFill>
            <a:prstDash val="solid"/>
          </a:ln>
        </p:spPr>
      </p:sp>
      <p:pic>
        <p:nvPicPr>
          <p:cNvPr id="5" name="a01_vp_37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548640" cy="548640"/>
          </a:xfrm>
          <a:prstGeom prst="rect">
            <a:avLst/>
          </a:prstGeom>
        </p:spPr>
      </p:pic>
      <p:sp>
        <p:nvSpPr>
          <p:cNvPr id="6" name="a01_vp_378"/>
          <p:cNvSpPr txBox="1"/>
          <p:nvPr/>
        </p:nvSpPr>
        <p:spPr>
          <a:xfrm>
            <a:off x="822960" y="251460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bg1"/>
                </a:solidFill>
              </a:rPr>
              <a:t>For patients leaving hospital and their families, </a:t>
            </a:r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chemeClr val="accent3"/>
                </a:solidFill>
              </a:rPr>
              <a:t>CareBridge</a:t>
            </a:r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bg1"/>
                </a:solidFill>
              </a:rPr>
              <a:t> turns a dense discharge summary into a verified, multilingual follow-up plan, with a doctor confirming anything unclear before the patient acts on it.</a:t>
            </a:r>
            <a:endParaRPr lang="en-US" sz="1900" dirty="0"/>
          </a:p>
        </p:txBody>
      </p:sp>
      <p:sp>
        <p:nvSpPr>
          <p:cNvPr id="7" name="a01_vp_379"/>
          <p:cNvSpPr txBox="1"/>
          <p:nvPr/>
        </p:nvSpPr>
        <p:spPr>
          <a:xfrm>
            <a:off x="822960" y="5166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Unlike a generic chatbot, every output cites its source and fails safe.</a:t>
            </a:r>
            <a:endParaRPr lang="en-US" sz="1400" dirty="0"/>
          </a:p>
        </p:txBody>
      </p:sp>
      <p:sp>
        <p:nvSpPr>
          <p:cNvPr id="8" name="a02_st_380"/>
          <p:cNvSpPr/>
          <p:nvPr/>
        </p:nvSpPr>
        <p:spPr>
          <a:xfrm>
            <a:off x="5989320" y="1600200"/>
            <a:ext cx="269748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rgbClr val="1F5A55"/>
            </a:solidFill>
            <a:prstDash val="solid"/>
          </a:ln>
        </p:spPr>
      </p:sp>
      <p:sp>
        <p:nvSpPr>
          <p:cNvPr id="9" name="a02_st_381"/>
          <p:cNvSpPr txBox="1"/>
          <p:nvPr/>
        </p:nvSpPr>
        <p:spPr>
          <a:xfrm>
            <a:off x="6217920" y="17099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4400" dirty="0"/>
          </a:p>
        </p:txBody>
      </p:sp>
      <p:sp>
        <p:nvSpPr>
          <p:cNvPr id="10" name="a02_st_382"/>
          <p:cNvSpPr txBox="1"/>
          <p:nvPr/>
        </p:nvSpPr>
        <p:spPr>
          <a:xfrm>
            <a:off x="6217920" y="24414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agents in one pipeline</a:t>
            </a:r>
            <a:endParaRPr lang="en-US" sz="1300" dirty="0"/>
          </a:p>
        </p:txBody>
      </p:sp>
      <p:sp>
        <p:nvSpPr>
          <p:cNvPr id="11" name="a03_st_383"/>
          <p:cNvSpPr/>
          <p:nvPr/>
        </p:nvSpPr>
        <p:spPr>
          <a:xfrm>
            <a:off x="8823960" y="1600200"/>
            <a:ext cx="269748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rgbClr val="1F5A55"/>
            </a:solidFill>
            <a:prstDash val="solid"/>
          </a:ln>
        </p:spPr>
      </p:sp>
      <p:sp>
        <p:nvSpPr>
          <p:cNvPr id="12" name="a03_st_384"/>
          <p:cNvSpPr txBox="1"/>
          <p:nvPr/>
        </p:nvSpPr>
        <p:spPr>
          <a:xfrm>
            <a:off x="9052560" y="17099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400" dirty="0"/>
          </a:p>
        </p:txBody>
      </p:sp>
      <p:sp>
        <p:nvSpPr>
          <p:cNvPr id="13" name="a03_st_385"/>
          <p:cNvSpPr txBox="1"/>
          <p:nvPr/>
        </p:nvSpPr>
        <p:spPr>
          <a:xfrm>
            <a:off x="9052560" y="24414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languages, incl. Tamil &amp; Hindi</a:t>
            </a:r>
            <a:endParaRPr lang="en-US" sz="1300" dirty="0"/>
          </a:p>
        </p:txBody>
      </p:sp>
      <p:sp>
        <p:nvSpPr>
          <p:cNvPr id="14" name="a04_st_386"/>
          <p:cNvSpPr/>
          <p:nvPr/>
        </p:nvSpPr>
        <p:spPr>
          <a:xfrm>
            <a:off x="5989320" y="3108960"/>
            <a:ext cx="269748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rgbClr val="1F5A55"/>
            </a:solidFill>
            <a:prstDash val="solid"/>
          </a:ln>
        </p:spPr>
      </p:sp>
      <p:sp>
        <p:nvSpPr>
          <p:cNvPr id="15" name="a04_st_387"/>
          <p:cNvSpPr txBox="1"/>
          <p:nvPr/>
        </p:nvSpPr>
        <p:spPr>
          <a:xfrm>
            <a:off x="6217920" y="32186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400" dirty="0"/>
          </a:p>
        </p:txBody>
      </p:sp>
      <p:sp>
        <p:nvSpPr>
          <p:cNvPr id="16" name="a04_st_388"/>
          <p:cNvSpPr txBox="1"/>
          <p:nvPr/>
        </p:nvSpPr>
        <p:spPr>
          <a:xfrm>
            <a:off x="6217920" y="39502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medicine lines written by the LLM</a:t>
            </a:r>
            <a:endParaRPr lang="en-US" sz="1300" dirty="0"/>
          </a:p>
        </p:txBody>
      </p:sp>
      <p:sp>
        <p:nvSpPr>
          <p:cNvPr id="17" name="a05_st_389"/>
          <p:cNvSpPr/>
          <p:nvPr/>
        </p:nvSpPr>
        <p:spPr>
          <a:xfrm>
            <a:off x="8823960" y="3108960"/>
            <a:ext cx="269748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rgbClr val="1F5A55"/>
            </a:solidFill>
            <a:prstDash val="solid"/>
          </a:ln>
        </p:spPr>
      </p:sp>
      <p:sp>
        <p:nvSpPr>
          <p:cNvPr id="18" name="a05_st_390"/>
          <p:cNvSpPr txBox="1"/>
          <p:nvPr/>
        </p:nvSpPr>
        <p:spPr>
          <a:xfrm>
            <a:off x="9052560" y="32186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9" name="a05_st_391"/>
          <p:cNvSpPr txBox="1"/>
          <p:nvPr/>
        </p:nvSpPr>
        <p:spPr>
          <a:xfrm>
            <a:off x="9052560" y="39502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escalation tiers: 6 h, 24 h, 48 h</a:t>
            </a:r>
            <a:endParaRPr lang="en-US" sz="1300" dirty="0"/>
          </a:p>
        </p:txBody>
      </p:sp>
      <p:sp>
        <p:nvSpPr>
          <p:cNvPr id="20" name="a06_st_392"/>
          <p:cNvSpPr/>
          <p:nvPr/>
        </p:nvSpPr>
        <p:spPr>
          <a:xfrm>
            <a:off x="5989320" y="4617720"/>
            <a:ext cx="269748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rgbClr val="1F5A55"/>
            </a:solidFill>
            <a:prstDash val="solid"/>
          </a:ln>
        </p:spPr>
      </p:sp>
      <p:sp>
        <p:nvSpPr>
          <p:cNvPr id="21" name="a06_st_393"/>
          <p:cNvSpPr txBox="1"/>
          <p:nvPr/>
        </p:nvSpPr>
        <p:spPr>
          <a:xfrm>
            <a:off x="6217920" y="472744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4400" dirty="0"/>
          </a:p>
        </p:txBody>
      </p:sp>
      <p:sp>
        <p:nvSpPr>
          <p:cNvPr id="22" name="a06_st_394"/>
          <p:cNvSpPr txBox="1"/>
          <p:nvPr/>
        </p:nvSpPr>
        <p:spPr>
          <a:xfrm>
            <a:off x="6217920" y="54589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automated tests passing</a:t>
            </a:r>
            <a:endParaRPr lang="en-US" sz="1300" dirty="0"/>
          </a:p>
        </p:txBody>
      </p:sp>
      <p:sp>
        <p:nvSpPr>
          <p:cNvPr id="23" name="a07_st_395"/>
          <p:cNvSpPr/>
          <p:nvPr/>
        </p:nvSpPr>
        <p:spPr>
          <a:xfrm>
            <a:off x="8823960" y="4617720"/>
            <a:ext cx="269748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rgbClr val="1F5A55"/>
            </a:solidFill>
            <a:prstDash val="solid"/>
          </a:ln>
        </p:spPr>
      </p:sp>
      <p:sp>
        <p:nvSpPr>
          <p:cNvPr id="24" name="a07_st_396"/>
          <p:cNvSpPr txBox="1"/>
          <p:nvPr/>
        </p:nvSpPr>
        <p:spPr>
          <a:xfrm>
            <a:off x="9052560" y="472744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4400" dirty="0"/>
          </a:p>
        </p:txBody>
      </p:sp>
      <p:sp>
        <p:nvSpPr>
          <p:cNvPr id="25" name="a07_st_397"/>
          <p:cNvSpPr txBox="1"/>
          <p:nvPr/>
        </p:nvSpPr>
        <p:spPr>
          <a:xfrm>
            <a:off x="9052560" y="54589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synthetic providers to match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D6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" dur="450"/>
                                              <p:tgtEl>
                                                <p:spTgt spid="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" dur="450"/>
                                              <p:tgtEl>
                                                <p:spTgt spid="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" dur="450"/>
                                              <p:tgtEl>
                                                <p:spTgt spid="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4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" dur="450"/>
                                              <p:tgtEl>
                                                <p:spTgt spid="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7" fill="hold">
                                  <p:stCondLst>
                                    <p:cond delay="380"/>
                                  </p:stCondLst>
                                  <p:childTnLst>
                                    <p:par>
                                      <p:cTn id="18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0" dur="450"/>
                                              <p:tgtEl>
                                                <p:spTgt spid="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3" dur="450"/>
                                              <p:tgtEl>
                                                <p:spTgt spid="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4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6" dur="450"/>
                                              <p:tgtEl>
                                                <p:spTgt spid="1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7" fill="hold">
                                  <p:stCondLst>
                                    <p:cond delay="760"/>
                                  </p:stCondLst>
                                  <p:childTnLst>
                                    <p:par>
                                      <p:cTn id="28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0" dur="45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3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3" dur="45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34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6" dur="45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7" fill="hold">
                                  <p:stCondLst>
                                    <p:cond delay="1140"/>
                                  </p:stCondLst>
                                  <p:childTnLst>
                                    <p:par>
                                      <p:cTn id="38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0" dur="45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4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3" dur="45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44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6" dur="45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7" fill="hold">
                                  <p:stCondLst>
                                    <p:cond delay="1520"/>
                                  </p:stCondLst>
                                  <p:childTnLst>
                                    <p:par>
                                      <p:cTn id="48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0" dur="45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5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3" dur="45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54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6" dur="45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7" fill="hold">
                                  <p:stCondLst>
                                    <p:cond delay="1900"/>
                                  </p:stCondLst>
                                  <p:childTnLst>
                                    <p:par>
                                      <p:cTn id="58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0" dur="45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6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3" dur="45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64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6" dur="450"/>
                                              <p:tgtEl>
                                                <p:spTgt spid="2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7" fill="hold">
                                  <p:stCondLst>
                                    <p:cond delay="2280"/>
                                  </p:stCondLst>
                                  <p:childTnLst>
                                    <p:par>
                                      <p:cTn id="68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0" dur="45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7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3" dur="450"/>
                                              <p:tgtEl>
                                                <p:spTgt spid="2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74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6" dur="450"/>
                                              <p:tgtEl>
                                                <p:spTgt spid="2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f3b70a50-054e-5e1a-9743-63a149e0e6f5/scratchpad/deck/assets/chevron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2468880" y="365760"/>
            <a:ext cx="7223760" cy="6309360"/>
          </a:xfrm>
          <a:prstGeom prst="rect">
            <a:avLst/>
          </a:prstGeom>
        </p:spPr>
      </p:pic>
      <p:pic>
        <p:nvPicPr>
          <p:cNvPr id="3" name="a01_b_398" descr="/tmp/claude-0/-home-claude/f3b70a50-054e-5e1a-9743-63a149e0e6f5/scratchpad/deck/assets/blob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97280" y="4206240"/>
            <a:ext cx="3657600" cy="3657600"/>
          </a:xfrm>
          <a:prstGeom prst="rect">
            <a:avLst/>
          </a:prstGeom>
        </p:spPr>
      </p:pic>
      <p:pic>
        <p:nvPicPr>
          <p:cNvPr id="4" name="a01_b_399" descr="/tmp/claude-0/-home-claude/f3b70a50-054e-5e1a-9743-63a149e0e6f5/scratchpad/deck/assets/blob_li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-731520"/>
            <a:ext cx="2377440" cy="2377440"/>
          </a:xfrm>
          <a:prstGeom prst="rect">
            <a:avLst/>
          </a:prstGeom>
        </p:spPr>
      </p:pic>
      <p:pic>
        <p:nvPicPr>
          <p:cNvPr id="5" name="a01_b_400" descr="/tmp/claude-0/-home-claude/f3b70a50-054e-5e1a-9743-63a149e0e6f5/scratchpad/deck/assets/blob_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5577840"/>
            <a:ext cx="640080" cy="640080"/>
          </a:xfrm>
          <a:prstGeom prst="rect">
            <a:avLst/>
          </a:prstGeom>
        </p:spPr>
      </p:pic>
      <p:sp>
        <p:nvSpPr>
          <p:cNvPr id="6" name="a02_t_401"/>
          <p:cNvSpPr txBox="1"/>
          <p:nvPr/>
        </p:nvSpPr>
        <p:spPr>
          <a:xfrm>
            <a:off x="1371600" y="160020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800" kern="0" dirty="0">
                <a:solidFill>
                  <a:schemeClr val="accent2"/>
                </a:solidFill>
              </a:rPr>
              <a:t>BUILD TO CARE</a:t>
            </a:r>
            <a:endParaRPr lang="en-US" sz="1800" dirty="0"/>
          </a:p>
        </p:txBody>
      </p:sp>
      <p:sp>
        <p:nvSpPr>
          <p:cNvPr id="7" name="a02_t_402"/>
          <p:cNvSpPr txBox="1"/>
          <p:nvPr/>
        </p:nvSpPr>
        <p:spPr>
          <a:xfrm>
            <a:off x="1371600" y="2103120"/>
            <a:ext cx="94457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</a:t>
            </a:r>
            <a:pPr algn="ctr" indent="0" marL="0">
              <a:buNone/>
            </a:pPr>
            <a:r>
              <a:rPr lang="en-US" sz="96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9600" dirty="0"/>
          </a:p>
        </p:txBody>
      </p:sp>
      <p:sp>
        <p:nvSpPr>
          <p:cNvPr id="8" name="a03_t_403"/>
          <p:cNvSpPr txBox="1"/>
          <p:nvPr/>
        </p:nvSpPr>
        <p:spPr>
          <a:xfrm>
            <a:off x="1371600" y="379476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Questions? Let's see the live demo.</a:t>
            </a:r>
            <a:endParaRPr lang="en-US" sz="2200" dirty="0"/>
          </a:p>
        </p:txBody>
      </p:sp>
      <p:sp>
        <p:nvSpPr>
          <p:cNvPr id="9" name="a03_t_404"/>
          <p:cNvSpPr/>
          <p:nvPr/>
        </p:nvSpPr>
        <p:spPr>
          <a:xfrm>
            <a:off x="4270248" y="4663440"/>
            <a:ext cx="3657600" cy="502920"/>
          </a:xfrm>
          <a:prstGeom prst="roundRect">
            <a:avLst>
              <a:gd name="adj" fmla="val 49091"/>
            </a:avLst>
          </a:prstGeom>
          <a:solidFill>
            <a:schemeClr val="accent6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a03_t_405"/>
          <p:cNvSpPr txBox="1"/>
          <p:nvPr/>
        </p:nvSpPr>
        <p:spPr>
          <a:xfrm>
            <a:off x="4270248" y="4663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Care</a:t>
            </a:r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Bridge  ·  [Your team name]</a:t>
            </a:r>
            <a:endParaRPr lang="en-US" sz="1400" dirty="0"/>
          </a:p>
        </p:txBody>
      </p:sp>
      <p:sp>
        <p:nvSpPr>
          <p:cNvPr id="11" name="Text 5"/>
          <p:cNvSpPr txBox="1"/>
          <p:nvPr/>
        </p:nvSpPr>
        <p:spPr>
          <a:xfrm>
            <a:off x="1371600" y="603504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All data in this prototype is synthetic. Not for clinical use.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" dur="450"/>
                                              <p:tgtEl>
                                                <p:spTgt spid="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" dur="450"/>
                                              <p:tgtEl>
                                                <p:spTgt spid="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" dur="450"/>
                                              <p:tgtEl>
                                                <p:spTgt spid="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1" fill="hold">
                                  <p:stCondLst>
                                    <p:cond delay="380"/>
                                  </p:stCondLst>
                                  <p:childTnLst>
                                    <p:par>
                                      <p:cTn id="15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7" dur="450"/>
                                              <p:tgtEl>
                                                <p:spTgt spid="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0" dur="450"/>
                                              <p:tgtEl>
                                                <p:spTgt spid="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1" fill="hold">
                                  <p:stCondLst>
                                    <p:cond delay="760"/>
                                  </p:stCondLst>
                                  <p:childTnLst>
                                    <p:par>
                                      <p:cTn id="2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4" dur="450"/>
                                              <p:tgtEl>
                                                <p:spTgt spid="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5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7" dur="450"/>
                                              <p:tgtEl>
                                                <p:spTgt spid="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8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0" dur="450"/>
                                              <p:tgtEl>
                                                <p:spTgt spid="1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theme/theme1.xml><?xml version="1.0" encoding="utf-8"?>
<a:theme xmlns:a="http://schemas.openxmlformats.org/drawingml/2006/main" name="CareBridge Build to Care">
  <a:themeElements>
    <a:clrScheme name="CareBridge Build to Care">
      <a:dk1>
        <a:srgbClr val="0B2E2D"/>
      </a:dk1>
      <a:lt1>
        <a:srgbClr val="F6FCFA"/>
      </a:lt1>
      <a:dk2>
        <a:srgbClr val="4A6563"/>
      </a:dk2>
      <a:lt2>
        <a:srgbClr val="EAFBF6"/>
      </a:lt2>
      <a:accent1>
        <a:srgbClr val="0E7C7B"/>
      </a:accent1>
      <a:accent2>
        <a:srgbClr val="5ED6C3"/>
      </a:accent2>
      <a:accent3>
        <a:srgbClr val="8DC63F"/>
      </a:accent3>
      <a:accent4>
        <a:srgbClr val="3FAE49"/>
      </a:accent4>
      <a:accent5>
        <a:srgbClr val="B5452F"/>
      </a:accent5>
      <a:accent6>
        <a:srgbClr val="12403E"/>
      </a:accent6>
      <a:hlink>
        <a:srgbClr val="0E7C7B"/>
      </a:hlink>
      <a:folHlink>
        <a:srgbClr val="1F5A55"/>
      </a:folHlink>
    </a:clrScheme>
    <a:fontScheme name="CareBridge Build to Car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CareBridge - Agentic Discharge and Follow-up Coordinator</dc:title>
  <dc:subject>PptxGenJS Presentation</dc:subject>
  <dc:creator>Team CareBridge</dc:creator>
  <cp:lastModifiedBy>Team CareBridge</cp:lastModifiedBy>
  <cp:revision>1</cp:revision>
  <dcterms:created xsi:type="dcterms:W3CDTF">2026-10-09T03:41:35Z</dcterms:created>
  <dcterms:modified xsi:type="dcterms:W3CDTF">2026-10-09T03:41:35Z</dcterms:modified>
</cp:coreProperties>
</file>